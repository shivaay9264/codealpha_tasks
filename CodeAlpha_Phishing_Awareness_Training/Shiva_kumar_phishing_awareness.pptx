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slideLayout5.xml" ContentType="application/vnd.openxmlformats-officedocument.presentationml.slideLayout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_rels/slide22.xml.rels" ContentType="application/vnd.openxmlformats-package.relationships+xml"/>
  <Override PartName="/ppt/slides/_rels/slide18.xml.rels" ContentType="application/vnd.openxmlformats-package.relationships+xml"/>
  <Override PartName="/ppt/slides/_rels/slide1.xml.rels" ContentType="application/vnd.openxmlformats-package.relationships+xml"/>
  <Override PartName="/ppt/slides/_rels/slide20.xml.rels" ContentType="application/vnd.openxmlformats-package.relationships+xml"/>
  <Override PartName="/ppt/slides/_rels/slide2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9.xml.rels" ContentType="application/vnd.openxmlformats-package.relationships+xml"/>
  <Override PartName="/ppt/media/image6.jpeg" ContentType="image/jpeg"/>
  <Override PartName="/ppt/media/image17.jpeg" ContentType="image/jpeg"/>
  <Override PartName="/ppt/media/image2.jpeg" ContentType="image/jpeg"/>
  <Override PartName="/ppt/media/image13.jpeg" ContentType="image/jpeg"/>
  <Override PartName="/ppt/media/image3.png" ContentType="image/png"/>
  <Override PartName="/ppt/media/image1.jpeg" ContentType="image/jpeg"/>
  <Override PartName="/ppt/media/image4.jpeg" ContentType="image/jpeg"/>
  <Override PartName="/ppt/media/image5.jpeg" ContentType="image/jpeg"/>
  <Override PartName="/ppt/media/image7.jpeg" ContentType="image/jpeg"/>
  <Override PartName="/ppt/media/image11.jpeg" ContentType="image/jpeg"/>
  <Override PartName="/ppt/media/image8.jpeg" ContentType="image/jpeg"/>
  <Override PartName="/ppt/media/image10.jpeg" ContentType="image/jpeg"/>
  <Override PartName="/ppt/media/image9.jpeg" ContentType="image/jpeg"/>
  <Override PartName="/ppt/media/image12.jpeg" ContentType="image/jpeg"/>
  <Override PartName="/ppt/media/image14.jpeg" ContentType="image/jpeg"/>
  <Override PartName="/ppt/media/image15.jpeg" ContentType="image/jpeg"/>
  <Override PartName="/ppt/media/image16.jpeg" ContentType="image/jpeg"/>
  <Override PartName="/ppt/presProps.xml" ContentType="application/vnd.openxmlformats-officedocument.presentationml.presPro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1.jpeg"/><Relationship Id="rId4" Type="http://schemas.openxmlformats.org/officeDocument/2006/relationships/image" Target="../media/image2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 object 16" descr=""/>
          <p:cNvPicPr/>
          <p:nvPr/>
        </p:nvPicPr>
        <p:blipFill>
          <a:blip r:embed="rId2"/>
          <a:stretch/>
        </p:blipFill>
        <p:spPr>
          <a:xfrm>
            <a:off x="0" y="0"/>
            <a:ext cx="9143280" cy="1742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" name="bg object 16" descr=""/>
          <p:cNvPicPr/>
          <p:nvPr/>
        </p:nvPicPr>
        <p:blipFill>
          <a:blip r:embed="rId3"/>
          <a:stretch/>
        </p:blipFill>
        <p:spPr>
          <a:xfrm>
            <a:off x="0" y="0"/>
            <a:ext cx="9143280" cy="1742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" name="bg object 17" descr=""/>
          <p:cNvPicPr/>
          <p:nvPr/>
        </p:nvPicPr>
        <p:blipFill>
          <a:blip r:embed="rId4"/>
          <a:stretch/>
        </p:blipFill>
        <p:spPr>
          <a:xfrm>
            <a:off x="2514600" y="1828800"/>
            <a:ext cx="3656880" cy="352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824480" y="1077120"/>
            <a:ext cx="50360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ftr" idx="1"/>
          </p:nvPr>
        </p:nvSpPr>
        <p:spPr>
          <a:xfrm>
            <a:off x="3108960" y="6378120"/>
            <a:ext cx="2925360" cy="34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2"/>
          </p:nvPr>
        </p:nvSpPr>
        <p:spPr>
          <a:xfrm>
            <a:off x="457200" y="6378120"/>
            <a:ext cx="2102400" cy="34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sldNum" idx="3"/>
          </p:nvPr>
        </p:nvSpPr>
        <p:spPr>
          <a:xfrm>
            <a:off x="6583680" y="6378120"/>
            <a:ext cx="2102400" cy="34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4BAF698-721B-41A1-881D-E34A1C6A2AD7}" type="slidenum">
              <a:rPr b="0" lang="en-IN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g object 16" descr=""/>
          <p:cNvPicPr/>
          <p:nvPr/>
        </p:nvPicPr>
        <p:blipFill>
          <a:blip r:embed="rId2"/>
          <a:stretch/>
        </p:blipFill>
        <p:spPr>
          <a:xfrm>
            <a:off x="0" y="0"/>
            <a:ext cx="9143280" cy="1742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496880" y="594000"/>
            <a:ext cx="6149520" cy="800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840600" y="1922040"/>
            <a:ext cx="7461720" cy="477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ftr" idx="4"/>
          </p:nvPr>
        </p:nvSpPr>
        <p:spPr>
          <a:xfrm>
            <a:off x="3108960" y="6378120"/>
            <a:ext cx="2925360" cy="34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dt" idx="5"/>
          </p:nvPr>
        </p:nvSpPr>
        <p:spPr>
          <a:xfrm>
            <a:off x="457200" y="6378120"/>
            <a:ext cx="2102400" cy="34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6"/>
          </p:nvPr>
        </p:nvSpPr>
        <p:spPr>
          <a:xfrm>
            <a:off x="6583680" y="6378120"/>
            <a:ext cx="2102400" cy="34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739B7F8-2592-41AA-AD90-1588F7BA07CB}" type="slidenum">
              <a:rPr b="0" lang="en-IN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wo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 descr=""/>
          <p:cNvPicPr/>
          <p:nvPr/>
        </p:nvPicPr>
        <p:blipFill>
          <a:blip r:embed="rId2"/>
          <a:stretch/>
        </p:blipFill>
        <p:spPr>
          <a:xfrm>
            <a:off x="0" y="0"/>
            <a:ext cx="9143280" cy="1742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1496880" y="594000"/>
            <a:ext cx="6149520" cy="800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577520"/>
            <a:ext cx="3976920" cy="344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4709160" y="1577520"/>
            <a:ext cx="3976920" cy="344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7"/>
          </p:nvPr>
        </p:nvSpPr>
        <p:spPr>
          <a:xfrm>
            <a:off x="3108960" y="6378120"/>
            <a:ext cx="2925360" cy="34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dt" idx="8"/>
          </p:nvPr>
        </p:nvSpPr>
        <p:spPr>
          <a:xfrm>
            <a:off x="457200" y="6378120"/>
            <a:ext cx="2102400" cy="34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sldNum" idx="9"/>
          </p:nvPr>
        </p:nvSpPr>
        <p:spPr>
          <a:xfrm>
            <a:off x="6583680" y="6378120"/>
            <a:ext cx="2102400" cy="34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31C4069-F645-4BFE-94E8-FE1C920AEEDA}" type="slidenum">
              <a:rPr b="0" lang="en-IN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bg object 16" descr=""/>
          <p:cNvPicPr/>
          <p:nvPr/>
        </p:nvPicPr>
        <p:blipFill>
          <a:blip r:embed="rId2"/>
          <a:stretch/>
        </p:blipFill>
        <p:spPr>
          <a:xfrm>
            <a:off x="0" y="0"/>
            <a:ext cx="9143280" cy="1742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1496880" y="594000"/>
            <a:ext cx="6149520" cy="800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ftr" idx="10"/>
          </p:nvPr>
        </p:nvSpPr>
        <p:spPr>
          <a:xfrm>
            <a:off x="3108960" y="6378120"/>
            <a:ext cx="2925360" cy="34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1"/>
          </p:nvPr>
        </p:nvSpPr>
        <p:spPr>
          <a:xfrm>
            <a:off x="457200" y="6378120"/>
            <a:ext cx="2102400" cy="34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sldNum" idx="12"/>
          </p:nvPr>
        </p:nvSpPr>
        <p:spPr>
          <a:xfrm>
            <a:off x="6583680" y="6378120"/>
            <a:ext cx="2102400" cy="34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B92804E-D7E5-4AC2-9EC2-969999A46E73}" type="slidenum">
              <a:rPr b="0" lang="en-IN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bg object 16" descr=""/>
          <p:cNvPicPr/>
          <p:nvPr/>
        </p:nvPicPr>
        <p:blipFill>
          <a:blip r:embed="rId2"/>
          <a:stretch/>
        </p:blipFill>
        <p:spPr>
          <a:xfrm>
            <a:off x="0" y="0"/>
            <a:ext cx="9143280" cy="1742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" name="PlaceHolder 1"/>
          <p:cNvSpPr>
            <a:spLocks noGrp="1"/>
          </p:cNvSpPr>
          <p:nvPr>
            <p:ph type="ftr" idx="13"/>
          </p:nvPr>
        </p:nvSpPr>
        <p:spPr>
          <a:xfrm>
            <a:off x="3108960" y="6378120"/>
            <a:ext cx="2925360" cy="34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dt" idx="14"/>
          </p:nvPr>
        </p:nvSpPr>
        <p:spPr>
          <a:xfrm>
            <a:off x="457200" y="6378120"/>
            <a:ext cx="2102400" cy="34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sldNum" idx="15"/>
          </p:nvPr>
        </p:nvSpPr>
        <p:spPr>
          <a:xfrm>
            <a:off x="6583680" y="6378120"/>
            <a:ext cx="2102400" cy="34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DCF5C6E-BB89-4E64-AE6F-5D3398A05732}" type="slidenum">
              <a:rPr b="0" lang="en-IN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hyperlink" Target="mailto:member@ebay.com" TargetMode="External"/><Relationship Id="rId3" Type="http://schemas.openxmlformats.org/officeDocument/2006/relationships/hyperlink" Target="mailto:valdostarocks@ebay.com" TargetMode="External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image" Target="../media/image12.jpe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hyperlink" Target="mailto:abuse@valdosta.edu" TargetMode="Externa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subTitle"/>
          </p:nvPr>
        </p:nvSpPr>
        <p:spPr>
          <a:xfrm>
            <a:off x="2309400" y="5151960"/>
            <a:ext cx="4524840" cy="1404360"/>
          </a:xfrm>
          <a:prstGeom prst="rect">
            <a:avLst/>
          </a:prstGeom>
          <a:noFill/>
          <a:ln w="0">
            <a:noFill/>
          </a:ln>
        </p:spPr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b="0" lang="en-IN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Phishing</a:t>
            </a:r>
            <a:r>
              <a:rPr b="0" lang="en-IN" sz="4400" spc="-26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4400" spc="-1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Awareness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74720" indent="567000">
              <a:lnSpc>
                <a:spcPct val="100000"/>
              </a:lnSpc>
              <a:spcBef>
                <a:spcPts val="1726"/>
              </a:spcBef>
              <a:tabLst>
                <a:tab algn="l" pos="0"/>
              </a:tabLst>
            </a:pPr>
            <a:r>
              <a:rPr b="0" lang="en-IN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Presented By:-</a:t>
            </a:r>
            <a:r>
              <a:rPr b="0" lang="en-IN" sz="1600" spc="-14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Shiva Kumar</a:t>
            </a:r>
            <a:r>
              <a:rPr b="0" lang="en-IN" sz="1600" spc="-1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title"/>
          </p:nvPr>
        </p:nvSpPr>
        <p:spPr>
          <a:xfrm>
            <a:off x="1824480" y="1077120"/>
            <a:ext cx="5735160" cy="86688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spAutoFit/>
          </a:bodyPr>
          <a:p>
            <a:pPr marL="12600" indent="0">
              <a:lnSpc>
                <a:spcPct val="100000"/>
              </a:lnSpc>
              <a:spcBef>
                <a:spcPts val="96"/>
              </a:spcBef>
              <a:buNone/>
              <a:tabLst>
                <a:tab algn="l" pos="0"/>
              </a:tabLst>
            </a:pP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Division</a:t>
            </a:r>
            <a:r>
              <a:rPr b="0" lang="en-IN" sz="2800" spc="-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of</a:t>
            </a:r>
            <a:r>
              <a:rPr b="0" lang="en-IN" sz="2800" spc="-85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800" spc="-1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Information</a:t>
            </a:r>
            <a:r>
              <a:rPr b="0" lang="en-IN" sz="2800" spc="-79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800" spc="-1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Technology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0" y="144000"/>
            <a:ext cx="1619640" cy="1439640"/>
          </a:xfrm>
          <a:custGeom>
            <a:avLst/>
            <a:gdLst>
              <a:gd name="textAreaLeft" fmla="*/ 0 w 1619640"/>
              <a:gd name="textAreaRight" fmla="*/ 1620000 w 1619640"/>
              <a:gd name="textAreaTop" fmla="*/ 0 h 1439640"/>
              <a:gd name="textAreaBottom" fmla="*/ 1440000 h 1439640"/>
            </a:gdLst>
            <a:ahLst/>
            <a:cxnLst/>
            <a:rect l="textAreaLeft" t="textAreaTop" r="textAreaRight" b="textAreaBottom"/>
            <a:pathLst>
              <a:path w="4500" h="4000">
                <a:moveTo>
                  <a:pt x="0" y="4000"/>
                </a:moveTo>
                <a:lnTo>
                  <a:pt x="0" y="0"/>
                </a:lnTo>
                <a:lnTo>
                  <a:pt x="4500" y="0"/>
                </a:lnTo>
                <a:lnTo>
                  <a:pt x="4500" y="4000"/>
                </a:lnTo>
                <a:lnTo>
                  <a:pt x="0" y="400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1496880" y="594000"/>
            <a:ext cx="6149520" cy="802080"/>
          </a:xfrm>
          <a:prstGeom prst="rect">
            <a:avLst/>
          </a:prstGeom>
          <a:noFill/>
          <a:ln w="0">
            <a:noFill/>
          </a:ln>
        </p:spPr>
        <p:txBody>
          <a:bodyPr lIns="0" rIns="0" tIns="63720" bIns="0" anchor="t">
            <a:spAutoFit/>
          </a:bodyPr>
          <a:p>
            <a:pPr marL="1068840" indent="0">
              <a:lnSpc>
                <a:spcPct val="100000"/>
              </a:lnSpc>
              <a:spcBef>
                <a:spcPts val="105"/>
              </a:spcBef>
              <a:buNone/>
              <a:tabLst>
                <a:tab algn="l" pos="0"/>
              </a:tabLst>
            </a:pPr>
            <a:r>
              <a:rPr b="0" lang="en-IN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What</a:t>
            </a:r>
            <a:r>
              <a:rPr b="0" lang="en-IN" sz="4400" spc="-34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is</a:t>
            </a:r>
            <a:r>
              <a:rPr b="0" lang="en-IN" sz="4400" spc="-34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4400" spc="-1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Phishing?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object 3"/>
          <p:cNvSpPr/>
          <p:nvPr/>
        </p:nvSpPr>
        <p:spPr>
          <a:xfrm>
            <a:off x="536040" y="1836720"/>
            <a:ext cx="7832160" cy="344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Phishing</a:t>
            </a:r>
            <a:r>
              <a:rPr b="0" lang="en-IN" sz="32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email</a:t>
            </a:r>
            <a:r>
              <a:rPr b="0" lang="en-IN" sz="3200" spc="-8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messages,</a:t>
            </a:r>
            <a:r>
              <a:rPr b="0" lang="en-IN" sz="3200" spc="-7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websites,</a:t>
            </a:r>
            <a:r>
              <a:rPr b="0" lang="en-IN" sz="3200" spc="-7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and</a:t>
            </a:r>
            <a:r>
              <a:rPr b="0" lang="en-IN" sz="3200" spc="-7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32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phone </a:t>
            </a: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calls</a:t>
            </a:r>
            <a:r>
              <a:rPr b="0" lang="en-IN" sz="3200" spc="-6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are</a:t>
            </a:r>
            <a:r>
              <a:rPr b="0" lang="en-IN" sz="3200" spc="-7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designed</a:t>
            </a:r>
            <a:r>
              <a:rPr b="0" lang="en-IN" sz="32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to</a:t>
            </a:r>
            <a:r>
              <a:rPr b="0" lang="en-IN" sz="3200" spc="-6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steal</a:t>
            </a:r>
            <a:r>
              <a:rPr b="0" lang="en-IN" sz="32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money</a:t>
            </a:r>
            <a:r>
              <a:rPr b="0" lang="en-IN" sz="3200" spc="-6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or</a:t>
            </a:r>
            <a:r>
              <a:rPr b="0" lang="en-IN" sz="3200" spc="-6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32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sensitive information.</a:t>
            </a:r>
            <a:r>
              <a:rPr b="0" lang="en-IN" sz="32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Cybercriminals</a:t>
            </a:r>
            <a:r>
              <a:rPr b="0" lang="en-IN" sz="3200" spc="-7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can</a:t>
            </a:r>
            <a:r>
              <a:rPr b="0" lang="en-IN" sz="3200" spc="-9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do</a:t>
            </a:r>
            <a:r>
              <a:rPr b="0" lang="en-IN" sz="3200" spc="-9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this</a:t>
            </a:r>
            <a:r>
              <a:rPr b="0" lang="en-IN" sz="3200" spc="-8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32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by </a:t>
            </a:r>
            <a:r>
              <a:rPr b="0" lang="en-IN" sz="32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installing</a:t>
            </a:r>
            <a:r>
              <a:rPr b="0" lang="en-IN" sz="32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malicious</a:t>
            </a:r>
            <a:r>
              <a:rPr b="0" lang="en-IN" sz="32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software</a:t>
            </a:r>
            <a:r>
              <a:rPr b="0" lang="en-IN" sz="3200" spc="-9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on</a:t>
            </a:r>
            <a:r>
              <a:rPr b="0" lang="en-IN" sz="3200" spc="-79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your</a:t>
            </a:r>
            <a:r>
              <a:rPr b="0" lang="en-IN" sz="3200" spc="-8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32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computer, </a:t>
            </a: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tricking</a:t>
            </a:r>
            <a:r>
              <a:rPr b="0" lang="en-IN" sz="3200" spc="-6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</a:t>
            </a:r>
            <a:r>
              <a:rPr b="0" lang="en-IN" sz="3200" spc="-7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into</a:t>
            </a:r>
            <a:r>
              <a:rPr b="0" lang="en-IN" sz="3200" spc="-6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giving</a:t>
            </a:r>
            <a:r>
              <a:rPr b="0" lang="en-IN" sz="32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them</a:t>
            </a:r>
            <a:r>
              <a:rPr b="0" lang="en-IN" sz="3200" spc="-7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32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sensitive information,</a:t>
            </a:r>
            <a:r>
              <a:rPr b="0" lang="en-IN" sz="3200" spc="-7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or</a:t>
            </a:r>
            <a:r>
              <a:rPr b="0" lang="en-IN" sz="3200" spc="-99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outright</a:t>
            </a:r>
            <a:r>
              <a:rPr b="0" lang="en-IN" sz="3200" spc="-9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32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stealing</a:t>
            </a:r>
            <a:r>
              <a:rPr b="0" lang="en-IN" sz="3200" spc="-79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32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personal information</a:t>
            </a:r>
            <a:r>
              <a:rPr b="0" lang="en-IN" sz="32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off</a:t>
            </a:r>
            <a:r>
              <a:rPr b="0" lang="en-IN" sz="32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of</a:t>
            </a:r>
            <a:r>
              <a:rPr b="0" lang="en-IN" sz="32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your</a:t>
            </a:r>
            <a:r>
              <a:rPr b="0" lang="en-IN" sz="32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32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computer.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0" y="144000"/>
            <a:ext cx="1619640" cy="1439640"/>
          </a:xfrm>
          <a:custGeom>
            <a:avLst/>
            <a:gdLst>
              <a:gd name="textAreaLeft" fmla="*/ 0 w 1619640"/>
              <a:gd name="textAreaRight" fmla="*/ 1620000 w 1619640"/>
              <a:gd name="textAreaTop" fmla="*/ 0 h 1439640"/>
              <a:gd name="textAreaBottom" fmla="*/ 1440000 h 1439640"/>
            </a:gdLst>
            <a:ahLst/>
            <a:cxnLst/>
            <a:rect l="textAreaLeft" t="textAreaTop" r="textAreaRight" b="textAreaBottom"/>
            <a:pathLst>
              <a:path w="4500" h="4000">
                <a:moveTo>
                  <a:pt x="0" y="4000"/>
                </a:moveTo>
                <a:cubicBezTo>
                  <a:pt x="0" y="2667"/>
                  <a:pt x="0" y="1333"/>
                  <a:pt x="0" y="0"/>
                </a:cubicBezTo>
                <a:cubicBezTo>
                  <a:pt x="1500" y="0"/>
                  <a:pt x="3000" y="0"/>
                  <a:pt x="4500" y="0"/>
                </a:cubicBezTo>
                <a:cubicBezTo>
                  <a:pt x="4500" y="1333"/>
                  <a:pt x="4500" y="2667"/>
                  <a:pt x="4500" y="4000"/>
                </a:cubicBezTo>
                <a:cubicBezTo>
                  <a:pt x="3000" y="4000"/>
                  <a:pt x="1500" y="4000"/>
                  <a:pt x="0" y="4000"/>
                </a:cubicBez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1496880" y="594000"/>
            <a:ext cx="6149520" cy="810720"/>
          </a:xfrm>
          <a:prstGeom prst="rect">
            <a:avLst/>
          </a:prstGeom>
          <a:noFill/>
          <a:ln w="0">
            <a:noFill/>
          </a:ln>
        </p:spPr>
        <p:txBody>
          <a:bodyPr lIns="0" rIns="0" tIns="139680" bIns="0" anchor="t">
            <a:spAutoFit/>
          </a:bodyPr>
          <a:p>
            <a:pPr marL="228600" indent="0">
              <a:lnSpc>
                <a:spcPct val="100000"/>
              </a:lnSpc>
              <a:spcBef>
                <a:spcPts val="105"/>
              </a:spcBef>
              <a:buNone/>
              <a:tabLst>
                <a:tab algn="l" pos="0"/>
              </a:tabLst>
            </a:pPr>
            <a:r>
              <a:rPr b="0" lang="en-IN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Types</a:t>
            </a:r>
            <a:r>
              <a:rPr b="0" lang="en-IN" sz="4400" spc="-85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of</a:t>
            </a:r>
            <a:r>
              <a:rPr b="0" lang="en-IN" sz="4400" spc="-79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Phishing</a:t>
            </a:r>
            <a:r>
              <a:rPr b="0" lang="en-IN" sz="4400" spc="-85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4400" spc="-3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Attacks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object 3"/>
          <p:cNvSpPr/>
          <p:nvPr/>
        </p:nvSpPr>
        <p:spPr>
          <a:xfrm>
            <a:off x="612000" y="1845720"/>
            <a:ext cx="7868880" cy="450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1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Social</a:t>
            </a:r>
            <a:r>
              <a:rPr b="1" lang="en-IN" sz="22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22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Engineering</a:t>
            </a:r>
            <a:r>
              <a:rPr b="1" lang="en-IN" sz="22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-</a:t>
            </a:r>
            <a:r>
              <a:rPr b="0" lang="en-IN" sz="22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On</a:t>
            </a:r>
            <a:r>
              <a:rPr b="0" lang="en-IN" sz="2200" spc="-6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your</a:t>
            </a:r>
            <a:r>
              <a:rPr b="0" lang="en-IN" sz="2200" spc="-6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Facebook</a:t>
            </a:r>
            <a:r>
              <a:rPr b="0" lang="en-IN" sz="22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profile</a:t>
            </a:r>
            <a:r>
              <a:rPr b="0" lang="en-IN" sz="22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or</a:t>
            </a:r>
            <a:r>
              <a:rPr b="0" lang="en-IN" sz="2200" spc="-6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LinkedIn</a:t>
            </a:r>
            <a:r>
              <a:rPr b="0" lang="en-IN" sz="2200" spc="-6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profile,</a:t>
            </a:r>
            <a:r>
              <a:rPr b="0" lang="en-IN" sz="22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can</a:t>
            </a:r>
            <a:r>
              <a:rPr b="0" lang="en-IN" sz="22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find:</a:t>
            </a:r>
            <a:r>
              <a:rPr b="0" lang="en-IN" sz="22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Name,</a:t>
            </a:r>
            <a:r>
              <a:rPr b="0" lang="en-IN" sz="22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Date</a:t>
            </a:r>
            <a:r>
              <a:rPr b="0" lang="en-IN" sz="22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of</a:t>
            </a:r>
            <a:r>
              <a:rPr b="0" lang="en-IN" sz="22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Birth,</a:t>
            </a:r>
            <a:r>
              <a:rPr b="0" lang="en-IN" sz="22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Location,</a:t>
            </a:r>
            <a:r>
              <a:rPr b="0" lang="en-IN" sz="22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Workplace,</a:t>
            </a:r>
            <a:r>
              <a:rPr b="0" lang="en-IN" sz="22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Interests,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Hobbies,</a:t>
            </a:r>
            <a:r>
              <a:rPr b="0" lang="en-IN" sz="22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Skills,</a:t>
            </a:r>
            <a:r>
              <a:rPr b="0" lang="en-IN" sz="22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your</a:t>
            </a:r>
            <a:r>
              <a:rPr b="0" lang="en-IN" sz="2200" spc="-6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Relationship</a:t>
            </a:r>
            <a:r>
              <a:rPr b="0" lang="en-IN" sz="22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Status,</a:t>
            </a:r>
            <a:r>
              <a:rPr b="0" lang="en-IN" sz="22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Telephone</a:t>
            </a:r>
            <a:r>
              <a:rPr b="0" lang="en-IN" sz="22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Number,</a:t>
            </a:r>
            <a:r>
              <a:rPr b="0" lang="en-IN" sz="22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Email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Address</a:t>
            </a:r>
            <a:r>
              <a:rPr b="0" lang="en-IN" sz="22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and</a:t>
            </a:r>
            <a:r>
              <a:rPr b="0" lang="en-IN" sz="22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Favorite</a:t>
            </a:r>
            <a:r>
              <a:rPr b="0" lang="en-IN" sz="22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Food.</a:t>
            </a:r>
            <a:r>
              <a:rPr b="0" lang="en-IN" sz="22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This</a:t>
            </a:r>
            <a:r>
              <a:rPr b="0" lang="en-IN" sz="22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is</a:t>
            </a:r>
            <a:r>
              <a:rPr b="0" lang="en-IN" sz="22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everything</a:t>
            </a:r>
            <a:r>
              <a:rPr b="0" lang="en-IN" sz="22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en-IN" sz="22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Cybercriminal</a:t>
            </a:r>
            <a:r>
              <a:rPr b="0" lang="en-IN" sz="22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needs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in</a:t>
            </a:r>
            <a:r>
              <a:rPr b="0" lang="en-IN" sz="22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order</a:t>
            </a:r>
            <a:r>
              <a:rPr b="0" lang="en-IN" sz="22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to</a:t>
            </a:r>
            <a:r>
              <a:rPr b="0" lang="en-IN" sz="22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fool</a:t>
            </a:r>
            <a:r>
              <a:rPr b="0" lang="en-IN" sz="22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</a:t>
            </a:r>
            <a:r>
              <a:rPr b="0" lang="en-IN" sz="22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into</a:t>
            </a:r>
            <a:r>
              <a:rPr b="0" lang="en-IN" sz="22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thinking</a:t>
            </a:r>
            <a:r>
              <a:rPr b="0" lang="en-IN" sz="22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that</a:t>
            </a:r>
            <a:r>
              <a:rPr b="0" lang="en-IN" sz="22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b="0" lang="en-IN" sz="22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message</a:t>
            </a:r>
            <a:r>
              <a:rPr b="0" lang="en-IN" sz="22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or</a:t>
            </a:r>
            <a:r>
              <a:rPr b="0" lang="en-IN" sz="22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email</a:t>
            </a:r>
            <a:r>
              <a:rPr b="0" lang="en-IN" sz="22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is </a:t>
            </a:r>
            <a:r>
              <a:rPr b="0" lang="en-IN" sz="22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legitimate.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961"/>
              </a:spcBef>
            </a:pPr>
            <a:r>
              <a:rPr b="1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Link</a:t>
            </a:r>
            <a:r>
              <a:rPr b="1" lang="en-IN" sz="2200" spc="-6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Manipulation</a:t>
            </a:r>
            <a:r>
              <a:rPr b="1" lang="en-IN" sz="22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-</a:t>
            </a:r>
            <a:r>
              <a:rPr b="0" lang="en-IN" sz="22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Most</a:t>
            </a:r>
            <a:r>
              <a:rPr b="0" lang="en-IN" sz="2200" spc="-6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methods</a:t>
            </a:r>
            <a:r>
              <a:rPr b="0" lang="en-IN" sz="22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of</a:t>
            </a:r>
            <a:r>
              <a:rPr b="0" lang="en-IN" sz="22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phishing</a:t>
            </a:r>
            <a:r>
              <a:rPr b="0" lang="en-IN" sz="2200" spc="-6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use</a:t>
            </a:r>
            <a:r>
              <a:rPr b="0" lang="en-IN" sz="22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some</a:t>
            </a:r>
            <a:r>
              <a:rPr b="0" lang="en-IN" sz="22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form</a:t>
            </a:r>
            <a:r>
              <a:rPr b="0" lang="en-IN" sz="22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of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deception</a:t>
            </a:r>
            <a:r>
              <a:rPr b="0" lang="en-IN" sz="22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designed</a:t>
            </a:r>
            <a:r>
              <a:rPr b="0" lang="en-IN" sz="22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to</a:t>
            </a:r>
            <a:r>
              <a:rPr b="0" lang="en-IN" sz="22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make</a:t>
            </a:r>
            <a:r>
              <a:rPr b="0" lang="en-IN" sz="22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en-IN" sz="22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link</a:t>
            </a:r>
            <a:r>
              <a:rPr b="0" lang="en-IN" sz="2200" spc="-6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in</a:t>
            </a:r>
            <a:r>
              <a:rPr b="0" lang="en-IN" sz="22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</a:t>
            </a:r>
            <a:r>
              <a:rPr b="0" lang="en-IN" sz="22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email</a:t>
            </a:r>
            <a:r>
              <a:rPr b="0" lang="en-IN" sz="22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appear</a:t>
            </a:r>
            <a:r>
              <a:rPr b="0" lang="en-IN" sz="22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to</a:t>
            </a:r>
            <a:r>
              <a:rPr b="0" lang="en-IN" sz="22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belong</a:t>
            </a:r>
            <a:r>
              <a:rPr b="0" lang="en-IN" sz="22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to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b="0" lang="en-IN" sz="22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spoofed</a:t>
            </a:r>
            <a:r>
              <a:rPr b="0" lang="en-IN" sz="22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organization</a:t>
            </a:r>
            <a:r>
              <a:rPr b="0" lang="en-IN" sz="2200" spc="-6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or</a:t>
            </a:r>
            <a:r>
              <a:rPr b="0" lang="en-IN" sz="22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person.</a:t>
            </a:r>
            <a:r>
              <a:rPr b="0" lang="en-IN" sz="22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Misspelled</a:t>
            </a:r>
            <a:r>
              <a:rPr b="0" lang="en-IN" sz="22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URLs</a:t>
            </a:r>
            <a:r>
              <a:rPr b="0" lang="en-IN" sz="22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or</a:t>
            </a:r>
            <a:r>
              <a:rPr b="0" lang="en-IN" sz="22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b="0" lang="en-IN" sz="22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use</a:t>
            </a:r>
            <a:r>
              <a:rPr b="0" lang="en-IN" sz="22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of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subdomains</a:t>
            </a:r>
            <a:r>
              <a:rPr b="0" lang="en-IN" sz="2200" spc="-6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are</a:t>
            </a:r>
            <a:r>
              <a:rPr b="0" lang="en-IN" sz="2200" spc="-6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common</a:t>
            </a:r>
            <a:r>
              <a:rPr b="0" lang="en-IN" sz="22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tricks</a:t>
            </a:r>
            <a:r>
              <a:rPr b="0" lang="en-IN" sz="22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used</a:t>
            </a:r>
            <a:r>
              <a:rPr b="0" lang="en-IN" sz="2200" spc="-6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by</a:t>
            </a:r>
            <a:r>
              <a:rPr b="0" lang="en-IN" sz="22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phishers.</a:t>
            </a:r>
            <a:r>
              <a:rPr b="0" lang="en-IN" sz="2200" spc="-79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Many</a:t>
            </a:r>
            <a:r>
              <a:rPr b="0" lang="en-IN" sz="22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email</a:t>
            </a:r>
            <a:r>
              <a:rPr b="0" lang="en-IN" sz="22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clients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or</a:t>
            </a:r>
            <a:r>
              <a:rPr b="0" lang="en-IN" sz="22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web</a:t>
            </a:r>
            <a:r>
              <a:rPr b="0" lang="en-IN" sz="22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browsers</a:t>
            </a:r>
            <a:r>
              <a:rPr b="0" lang="en-IN" sz="22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will</a:t>
            </a:r>
            <a:r>
              <a:rPr b="0" lang="en-IN" sz="22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show</a:t>
            </a:r>
            <a:r>
              <a:rPr b="0" lang="en-IN" sz="22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previews</a:t>
            </a:r>
            <a:r>
              <a:rPr b="0" lang="en-IN" sz="22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of</a:t>
            </a:r>
            <a:r>
              <a:rPr b="0" lang="en-IN" sz="22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where</a:t>
            </a:r>
            <a:r>
              <a:rPr b="0" lang="en-IN" sz="22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en-IN" sz="22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link</a:t>
            </a:r>
            <a:r>
              <a:rPr b="0" lang="en-IN" sz="22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will</a:t>
            </a:r>
            <a:r>
              <a:rPr b="0" lang="en-IN" sz="22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take</a:t>
            </a:r>
            <a:r>
              <a:rPr b="0" lang="en-IN" sz="22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b="0" lang="en-IN" sz="22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user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in</a:t>
            </a:r>
            <a:r>
              <a:rPr b="0" lang="en-IN" sz="22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b="0" lang="en-IN" sz="22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bottom</a:t>
            </a:r>
            <a:r>
              <a:rPr b="0" lang="en-IN" sz="22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left</a:t>
            </a:r>
            <a:r>
              <a:rPr b="0" lang="en-IN" sz="22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of</a:t>
            </a:r>
            <a:r>
              <a:rPr b="0" lang="en-IN" sz="22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b="0" lang="en-IN" sz="22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screen</a:t>
            </a:r>
            <a:r>
              <a:rPr b="0" lang="en-IN" sz="22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or</a:t>
            </a:r>
            <a:r>
              <a:rPr b="0" lang="en-IN" sz="22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while</a:t>
            </a:r>
            <a:r>
              <a:rPr b="0" lang="en-IN" sz="22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hovering</a:t>
            </a:r>
            <a:r>
              <a:rPr b="0" lang="en-IN" sz="2200" spc="-6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b="0" lang="en-IN" sz="22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mouse</a:t>
            </a:r>
            <a:r>
              <a:rPr b="0" lang="en-IN" sz="22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cursor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over</a:t>
            </a:r>
            <a:r>
              <a:rPr b="0" lang="en-IN" sz="22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en-IN" sz="22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2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link.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0" y="144000"/>
            <a:ext cx="1619640" cy="1439640"/>
          </a:xfrm>
          <a:custGeom>
            <a:avLst/>
            <a:gdLst>
              <a:gd name="textAreaLeft" fmla="*/ 0 w 1619640"/>
              <a:gd name="textAreaRight" fmla="*/ 1620000 w 1619640"/>
              <a:gd name="textAreaTop" fmla="*/ 0 h 1439640"/>
              <a:gd name="textAreaBottom" fmla="*/ 1440000 h 1439640"/>
            </a:gdLst>
            <a:ahLst/>
            <a:cxnLst/>
            <a:rect l="textAreaLeft" t="textAreaTop" r="textAreaRight" b="textAreaBottom"/>
            <a:pathLst>
              <a:path w="4500" h="4000">
                <a:moveTo>
                  <a:pt x="0" y="4000"/>
                </a:moveTo>
                <a:cubicBezTo>
                  <a:pt x="0" y="2667"/>
                  <a:pt x="0" y="1333"/>
                  <a:pt x="0" y="0"/>
                </a:cubicBezTo>
                <a:cubicBezTo>
                  <a:pt x="1500" y="0"/>
                  <a:pt x="3000" y="0"/>
                  <a:pt x="4500" y="0"/>
                </a:cubicBezTo>
                <a:cubicBezTo>
                  <a:pt x="4500" y="1333"/>
                  <a:pt x="4500" y="2667"/>
                  <a:pt x="4500" y="4000"/>
                </a:cubicBezTo>
                <a:cubicBezTo>
                  <a:pt x="3000" y="4000"/>
                  <a:pt x="1500" y="4000"/>
                  <a:pt x="0" y="4000"/>
                </a:cubicBez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1496880" y="594000"/>
            <a:ext cx="6149520" cy="810720"/>
          </a:xfrm>
          <a:prstGeom prst="rect">
            <a:avLst/>
          </a:prstGeom>
          <a:noFill/>
          <a:ln w="0">
            <a:noFill/>
          </a:ln>
        </p:spPr>
        <p:txBody>
          <a:bodyPr lIns="0" rIns="0" tIns="139680" bIns="0" anchor="t">
            <a:spAutoFit/>
          </a:bodyPr>
          <a:p>
            <a:pPr marL="228600" indent="0">
              <a:lnSpc>
                <a:spcPct val="100000"/>
              </a:lnSpc>
              <a:spcBef>
                <a:spcPts val="105"/>
              </a:spcBef>
              <a:buNone/>
              <a:tabLst>
                <a:tab algn="l" pos="0"/>
              </a:tabLst>
            </a:pPr>
            <a:r>
              <a:rPr b="0" lang="en-IN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Types</a:t>
            </a:r>
            <a:r>
              <a:rPr b="0" lang="en-IN" sz="4400" spc="-85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of</a:t>
            </a:r>
            <a:r>
              <a:rPr b="0" lang="en-IN" sz="4400" spc="-79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Phishing</a:t>
            </a:r>
            <a:r>
              <a:rPr b="0" lang="en-IN" sz="4400" spc="-85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4400" spc="-3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Attacks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840600" y="1922040"/>
            <a:ext cx="7461720" cy="45936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spAutoFit/>
          </a:bodyPr>
          <a:p>
            <a:pPr marL="12600" indent="0">
              <a:lnSpc>
                <a:spcPct val="100000"/>
              </a:lnSpc>
              <a:spcBef>
                <a:spcPts val="96"/>
              </a:spcBef>
              <a:buNone/>
              <a:tabLst>
                <a:tab algn="l" pos="0"/>
              </a:tabLst>
            </a:pPr>
            <a:r>
              <a:rPr b="1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Spear</a:t>
            </a:r>
            <a:r>
              <a:rPr b="1" lang="en-IN" sz="2200" spc="-34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1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phishing</a:t>
            </a:r>
            <a:r>
              <a:rPr b="1" lang="en-IN" sz="2200" spc="-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</a:t>
            </a:r>
            <a:r>
              <a:rPr b="0" lang="en-IN" sz="2200" spc="-34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Phishing</a:t>
            </a:r>
            <a:r>
              <a:rPr b="0" lang="en-IN" sz="2200" spc="-5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pc="-1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attempts</a:t>
            </a:r>
            <a:r>
              <a:rPr b="0" lang="en-IN" sz="2200" spc="-6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pc="-1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directed</a:t>
            </a:r>
            <a:r>
              <a:rPr b="0" lang="en-IN" sz="2200" spc="-45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at</a:t>
            </a:r>
            <a:r>
              <a:rPr b="0" lang="en-IN" sz="2200" spc="-45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specific</a:t>
            </a:r>
            <a:r>
              <a:rPr b="0" lang="en-IN" sz="2200" spc="-5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pc="-1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individuals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or</a:t>
            </a:r>
            <a:r>
              <a:rPr b="0" lang="en-IN" sz="2200" spc="-7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companies</a:t>
            </a:r>
            <a:r>
              <a:rPr b="0" lang="en-IN" sz="2200" spc="-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have</a:t>
            </a:r>
            <a:r>
              <a:rPr b="0" lang="en-IN" sz="2200" spc="-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been</a:t>
            </a:r>
            <a:r>
              <a:rPr b="0" lang="en-IN" sz="2200" spc="-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termed</a:t>
            </a:r>
            <a:r>
              <a:rPr b="0" lang="en-IN" sz="2200" spc="-5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spear</a:t>
            </a:r>
            <a:r>
              <a:rPr b="0" lang="en-IN" sz="2200" spc="-7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phishing.</a:t>
            </a:r>
            <a:r>
              <a:rPr b="0" lang="en-IN" sz="2200" spc="-74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pc="-26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Attackers</a:t>
            </a:r>
            <a:r>
              <a:rPr b="0" lang="en-IN" sz="2200" spc="-4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pc="-26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may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gather</a:t>
            </a:r>
            <a:r>
              <a:rPr b="0" lang="en-IN" sz="2200" spc="-5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personal</a:t>
            </a:r>
            <a:r>
              <a:rPr b="0" lang="en-IN" sz="2200" spc="-85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pc="-1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information</a:t>
            </a:r>
            <a:r>
              <a:rPr b="0" lang="en-IN" sz="2200" spc="-5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(social</a:t>
            </a:r>
            <a:r>
              <a:rPr b="0" lang="en-IN" sz="2200" spc="-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engineering)</a:t>
            </a:r>
            <a:r>
              <a:rPr b="0" lang="en-IN" sz="2200" spc="-34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about</a:t>
            </a:r>
            <a:r>
              <a:rPr b="0" lang="en-IN" sz="2200" spc="-45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pc="-1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their targets</a:t>
            </a:r>
            <a:r>
              <a:rPr b="0" lang="en-IN" sz="2200" spc="-5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to</a:t>
            </a:r>
            <a:r>
              <a:rPr b="0" lang="en-IN" sz="2200" spc="-34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increase</a:t>
            </a:r>
            <a:r>
              <a:rPr b="0" lang="en-IN" sz="2200" spc="-54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their</a:t>
            </a:r>
            <a:r>
              <a:rPr b="0" lang="en-IN" sz="2200" spc="-54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probability</a:t>
            </a:r>
            <a:r>
              <a:rPr b="0" lang="en-IN" sz="2200" spc="-65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of</a:t>
            </a:r>
            <a:r>
              <a:rPr b="0" lang="en-IN" sz="2200" spc="-45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success.</a:t>
            </a:r>
            <a:r>
              <a:rPr b="0" lang="en-IN" sz="2200" spc="-54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This</a:t>
            </a:r>
            <a:r>
              <a:rPr b="0" lang="en-IN" sz="2200" spc="-4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technique</a:t>
            </a:r>
            <a:r>
              <a:rPr b="0" lang="en-IN" sz="2200" spc="-54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pc="-26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is,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by</a:t>
            </a:r>
            <a:r>
              <a:rPr b="0" lang="en-IN" sz="2200" spc="-54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pc="-5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far,</a:t>
            </a:r>
            <a:r>
              <a:rPr b="0" lang="en-IN" sz="2200" spc="-54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the</a:t>
            </a:r>
            <a:r>
              <a:rPr b="0" lang="en-IN" sz="2200" spc="-4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most</a:t>
            </a:r>
            <a:r>
              <a:rPr b="0" lang="en-IN" sz="2200" spc="-45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successful</a:t>
            </a:r>
            <a:r>
              <a:rPr b="0" lang="en-IN" sz="2200" spc="-54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on</a:t>
            </a:r>
            <a:r>
              <a:rPr b="0" lang="en-IN" sz="2200" spc="-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the</a:t>
            </a:r>
            <a:r>
              <a:rPr b="0" lang="en-IN" sz="2200" spc="-45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internet</a:t>
            </a:r>
            <a:r>
              <a:rPr b="0" lang="en-IN" sz="2200" spc="-45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pc="-26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today,</a:t>
            </a:r>
            <a:r>
              <a:rPr b="0" lang="en-IN" sz="2200" spc="-54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accounting</a:t>
            </a:r>
            <a:r>
              <a:rPr b="0" lang="en-IN" sz="2200" spc="-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pc="-26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for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91%</a:t>
            </a:r>
            <a:r>
              <a:rPr b="0" lang="en-IN" sz="2200" spc="-2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of</a:t>
            </a:r>
            <a:r>
              <a:rPr b="0" lang="en-IN" sz="2200" spc="-6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pc="-1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attacks.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indent="0">
              <a:lnSpc>
                <a:spcPct val="100000"/>
              </a:lnSpc>
              <a:spcBef>
                <a:spcPts val="386"/>
              </a:spcBef>
              <a:buNone/>
              <a:tabLst>
                <a:tab algn="l" pos="0"/>
              </a:tabLst>
            </a:pP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Clone</a:t>
            </a:r>
            <a:r>
              <a:rPr b="1" lang="en-IN" sz="2200" spc="-3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1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phishing</a:t>
            </a:r>
            <a:r>
              <a:rPr b="1" lang="en-IN" sz="2200" spc="-54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</a:t>
            </a:r>
            <a:r>
              <a:rPr b="0" lang="en-IN" sz="2200" spc="-4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b="0" lang="en-IN" sz="2200" spc="-3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type</a:t>
            </a:r>
            <a:r>
              <a:rPr b="0" lang="en-IN" sz="2200" spc="-3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of</a:t>
            </a:r>
            <a:r>
              <a:rPr b="0" lang="en-IN" sz="2200" spc="-34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phishing</a:t>
            </a:r>
            <a:r>
              <a:rPr b="0" lang="en-IN" sz="2200" spc="-65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attack</a:t>
            </a:r>
            <a:r>
              <a:rPr b="0" lang="en-IN" sz="2200" spc="-3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whereby</a:t>
            </a:r>
            <a:r>
              <a:rPr b="0" lang="en-IN" sz="2200" spc="-34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b="0" lang="en-IN" sz="2200" spc="-34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pc="-1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legitimate,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and</a:t>
            </a:r>
            <a:r>
              <a:rPr b="0" lang="en-IN" sz="2200" spc="-54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previously</a:t>
            </a:r>
            <a:r>
              <a:rPr b="0" lang="en-IN" sz="2200" spc="-7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delivered</a:t>
            </a:r>
            <a:r>
              <a:rPr b="0" lang="en-IN" sz="2200" spc="-54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email</a:t>
            </a:r>
            <a:r>
              <a:rPr b="0" lang="en-IN" sz="2200" spc="-45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containing</a:t>
            </a:r>
            <a:r>
              <a:rPr b="0" lang="en-IN" sz="2200" spc="-5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an</a:t>
            </a:r>
            <a:r>
              <a:rPr b="0" lang="en-IN" sz="2200" spc="-5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pc="-2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attachment</a:t>
            </a:r>
            <a:r>
              <a:rPr b="0" lang="en-IN" sz="2200" spc="-26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or</a:t>
            </a:r>
            <a:r>
              <a:rPr b="0" lang="en-IN" sz="2200" spc="-54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pc="-2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link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has</a:t>
            </a:r>
            <a:r>
              <a:rPr b="0" lang="en-IN" sz="2200" spc="-54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had</a:t>
            </a:r>
            <a:r>
              <a:rPr b="0" lang="en-IN" sz="2200" spc="-54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its</a:t>
            </a:r>
            <a:r>
              <a:rPr b="0" lang="en-IN" sz="2200" spc="-54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pc="-1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content</a:t>
            </a:r>
            <a:r>
              <a:rPr b="0" lang="en-IN" sz="2200" spc="-26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and</a:t>
            </a:r>
            <a:r>
              <a:rPr b="0" lang="en-IN" sz="2200" spc="-54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recipient</a:t>
            </a:r>
            <a:r>
              <a:rPr b="0" lang="en-IN" sz="2200" spc="-54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address(es)</a:t>
            </a:r>
            <a:r>
              <a:rPr b="0" lang="en-IN" sz="2200" spc="-65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taken</a:t>
            </a:r>
            <a:r>
              <a:rPr b="0" lang="en-IN" sz="2200" spc="-4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and</a:t>
            </a:r>
            <a:r>
              <a:rPr b="0" lang="en-IN" sz="2200" spc="-5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used</a:t>
            </a:r>
            <a:r>
              <a:rPr b="0" lang="en-IN" sz="2200" spc="-54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pc="-26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create</a:t>
            </a:r>
            <a:r>
              <a:rPr b="0" lang="en-IN" sz="2200" spc="-5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an</a:t>
            </a:r>
            <a:r>
              <a:rPr b="0" lang="en-IN" sz="2200" spc="-5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almost</a:t>
            </a:r>
            <a:r>
              <a:rPr b="0" lang="en-IN" sz="2200" spc="-5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identical</a:t>
            </a:r>
            <a:r>
              <a:rPr b="0" lang="en-IN" sz="2200" spc="-4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or</a:t>
            </a:r>
            <a:r>
              <a:rPr b="0" lang="en-IN" sz="2200" spc="-5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cloned</a:t>
            </a:r>
            <a:r>
              <a:rPr b="0" lang="en-IN" sz="2200" spc="-4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email.</a:t>
            </a:r>
            <a:r>
              <a:rPr b="0" lang="en-IN" sz="2200" spc="-5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The</a:t>
            </a:r>
            <a:r>
              <a:rPr b="0" lang="en-IN" sz="2200" spc="-3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pc="-1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attachment</a:t>
            </a:r>
            <a:r>
              <a:rPr b="0" lang="en-IN" sz="2200" spc="-26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or</a:t>
            </a:r>
            <a:r>
              <a:rPr b="0" lang="en-IN" sz="2200" spc="-45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pc="-2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link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within</a:t>
            </a:r>
            <a:r>
              <a:rPr b="0" lang="en-IN" sz="2200" spc="-4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the</a:t>
            </a:r>
            <a:r>
              <a:rPr b="0" lang="en-IN" sz="2200" spc="-3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email</a:t>
            </a:r>
            <a:r>
              <a:rPr b="0" lang="en-IN" sz="2200" spc="-34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is</a:t>
            </a:r>
            <a:r>
              <a:rPr b="0" lang="en-IN" sz="2200" spc="-3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replaced</a:t>
            </a:r>
            <a:r>
              <a:rPr b="0" lang="en-IN" sz="2200" spc="-5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with</a:t>
            </a:r>
            <a:r>
              <a:rPr b="0" lang="en-IN" sz="2200" spc="-34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b="0" lang="en-IN" sz="2200" spc="-4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malicious</a:t>
            </a:r>
            <a:r>
              <a:rPr b="0" lang="en-IN" sz="2200" spc="-34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version</a:t>
            </a:r>
            <a:r>
              <a:rPr b="0" lang="en-IN" sz="2200" spc="-4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and</a:t>
            </a:r>
            <a:r>
              <a:rPr b="0" lang="en-IN" sz="2200" spc="-45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pc="-2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then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sent</a:t>
            </a:r>
            <a:r>
              <a:rPr b="0" lang="en-IN" sz="2200" spc="-5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from</a:t>
            </a:r>
            <a:r>
              <a:rPr b="0" lang="en-IN" sz="2200" spc="-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an</a:t>
            </a:r>
            <a:r>
              <a:rPr b="0" lang="en-IN" sz="2200" spc="-54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email</a:t>
            </a:r>
            <a:r>
              <a:rPr b="0" lang="en-IN" sz="2200" spc="-54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address</a:t>
            </a:r>
            <a:r>
              <a:rPr b="0" lang="en-IN" sz="2200" spc="-65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spoofed</a:t>
            </a:r>
            <a:r>
              <a:rPr b="0" lang="en-IN" sz="2200" spc="-45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to</a:t>
            </a:r>
            <a:r>
              <a:rPr b="0" lang="en-IN" sz="2200" spc="-5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appear</a:t>
            </a:r>
            <a:r>
              <a:rPr b="0" lang="en-IN" sz="2200" spc="-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to</a:t>
            </a:r>
            <a:r>
              <a:rPr b="0" lang="en-IN" sz="2200" spc="-5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come</a:t>
            </a:r>
            <a:r>
              <a:rPr b="0" lang="en-IN" sz="2200" spc="-45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from</a:t>
            </a:r>
            <a:r>
              <a:rPr b="0" lang="en-IN" sz="2200" spc="-45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pc="-26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the 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original</a:t>
            </a:r>
            <a:r>
              <a:rPr b="0" lang="en-IN" sz="2200" spc="-3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200" spc="-1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sender.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0" y="144000"/>
            <a:ext cx="1619640" cy="1439640"/>
          </a:xfrm>
          <a:custGeom>
            <a:avLst/>
            <a:gdLst>
              <a:gd name="textAreaLeft" fmla="*/ 0 w 1619640"/>
              <a:gd name="textAreaRight" fmla="*/ 1620000 w 1619640"/>
              <a:gd name="textAreaTop" fmla="*/ 0 h 1439640"/>
              <a:gd name="textAreaBottom" fmla="*/ 1440000 h 1439640"/>
            </a:gdLst>
            <a:ahLst/>
            <a:cxnLst/>
            <a:rect l="textAreaLeft" t="textAreaTop" r="textAreaRight" b="textAreaBottom"/>
            <a:pathLst>
              <a:path w="4500" h="4000">
                <a:moveTo>
                  <a:pt x="0" y="4000"/>
                </a:moveTo>
                <a:cubicBezTo>
                  <a:pt x="0" y="2667"/>
                  <a:pt x="0" y="1333"/>
                  <a:pt x="0" y="0"/>
                </a:cubicBezTo>
                <a:cubicBezTo>
                  <a:pt x="1500" y="0"/>
                  <a:pt x="3000" y="0"/>
                  <a:pt x="4500" y="0"/>
                </a:cubicBezTo>
                <a:cubicBezTo>
                  <a:pt x="4500" y="1333"/>
                  <a:pt x="4500" y="2667"/>
                  <a:pt x="4500" y="4000"/>
                </a:cubicBezTo>
                <a:cubicBezTo>
                  <a:pt x="3000" y="4000"/>
                  <a:pt x="1500" y="4000"/>
                  <a:pt x="0" y="4000"/>
                </a:cubicBez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1496880" y="594000"/>
            <a:ext cx="6149520" cy="810720"/>
          </a:xfrm>
          <a:prstGeom prst="rect">
            <a:avLst/>
          </a:prstGeom>
          <a:noFill/>
          <a:ln w="0">
            <a:noFill/>
          </a:ln>
        </p:spPr>
        <p:txBody>
          <a:bodyPr lIns="0" rIns="0" tIns="139680" bIns="0" anchor="t">
            <a:spAutoFit/>
          </a:bodyPr>
          <a:p>
            <a:pPr marL="228600" indent="0">
              <a:lnSpc>
                <a:spcPct val="100000"/>
              </a:lnSpc>
              <a:spcBef>
                <a:spcPts val="105"/>
              </a:spcBef>
              <a:buNone/>
              <a:tabLst>
                <a:tab algn="l" pos="0"/>
              </a:tabLst>
            </a:pPr>
            <a:r>
              <a:rPr b="0" lang="en-IN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Types</a:t>
            </a:r>
            <a:r>
              <a:rPr b="0" lang="en-IN" sz="4400" spc="-85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of</a:t>
            </a:r>
            <a:r>
              <a:rPr b="0" lang="en-IN" sz="4400" spc="-79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Phishing</a:t>
            </a:r>
            <a:r>
              <a:rPr b="0" lang="en-IN" sz="4400" spc="-85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4400" spc="-3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Attacks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object 3"/>
          <p:cNvSpPr/>
          <p:nvPr/>
        </p:nvSpPr>
        <p:spPr>
          <a:xfrm>
            <a:off x="688320" y="2222280"/>
            <a:ext cx="7293600" cy="319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b="1" lang="en-IN" sz="2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Voice</a:t>
            </a:r>
            <a:r>
              <a:rPr b="1" lang="en-IN" sz="2600" spc="-6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Phishing</a:t>
            </a:r>
            <a:r>
              <a:rPr b="1" lang="en-IN" sz="2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-</a:t>
            </a:r>
            <a:r>
              <a:rPr b="0" lang="en-IN" sz="2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Voice</a:t>
            </a:r>
            <a:r>
              <a:rPr b="0" lang="en-IN" sz="2600" spc="-7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phishing</a:t>
            </a:r>
            <a:r>
              <a:rPr b="0" lang="en-IN" sz="2600" spc="-7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is</a:t>
            </a:r>
            <a:r>
              <a:rPr b="0" lang="en-IN" sz="2600" spc="-6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b="0" lang="en-IN" sz="2600" spc="-6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criminal</a:t>
            </a:r>
            <a:r>
              <a:rPr b="0" lang="en-IN" sz="26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practice </a:t>
            </a:r>
            <a:r>
              <a:rPr b="0" lang="en-IN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of</a:t>
            </a:r>
            <a:r>
              <a:rPr b="0" lang="en-IN" sz="2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using</a:t>
            </a:r>
            <a:r>
              <a:rPr b="0" lang="en-IN" sz="2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social</a:t>
            </a:r>
            <a:r>
              <a:rPr b="0" lang="en-IN" sz="2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engineering</a:t>
            </a:r>
            <a:r>
              <a:rPr b="0" lang="en-IN" sz="2600" spc="-6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over</a:t>
            </a:r>
            <a:r>
              <a:rPr b="0" lang="en-IN" sz="2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b="0" lang="en-IN" sz="2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telephone</a:t>
            </a:r>
            <a:r>
              <a:rPr b="0" lang="en-IN" sz="2600" spc="-7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system </a:t>
            </a:r>
            <a:r>
              <a:rPr b="0" lang="en-IN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to</a:t>
            </a:r>
            <a:r>
              <a:rPr b="0" lang="en-IN" sz="2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gain</a:t>
            </a:r>
            <a:r>
              <a:rPr b="0" lang="en-IN" sz="2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access</a:t>
            </a:r>
            <a:r>
              <a:rPr b="0" lang="en-IN" sz="2600" spc="-6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to</a:t>
            </a:r>
            <a:r>
              <a:rPr b="0" lang="en-IN" sz="2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personal</a:t>
            </a:r>
            <a:r>
              <a:rPr b="0" lang="en-IN" sz="26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and</a:t>
            </a:r>
            <a:r>
              <a:rPr b="0" lang="en-IN" sz="2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financial</a:t>
            </a:r>
            <a:r>
              <a:rPr b="0" lang="en-IN" sz="2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information </a:t>
            </a:r>
            <a:r>
              <a:rPr b="0" lang="en-IN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from</a:t>
            </a:r>
            <a:r>
              <a:rPr b="0" lang="en-IN" sz="2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b="0" lang="en-IN" sz="2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public</a:t>
            </a:r>
            <a:r>
              <a:rPr b="0" lang="en-IN" sz="2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for</a:t>
            </a:r>
            <a:r>
              <a:rPr b="0" lang="en-IN" sz="2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b="0" lang="en-IN" sz="2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purpose</a:t>
            </a:r>
            <a:r>
              <a:rPr b="0" lang="en-IN" sz="2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of</a:t>
            </a:r>
            <a:r>
              <a:rPr b="0" lang="en-IN" sz="2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financial</a:t>
            </a:r>
            <a:r>
              <a:rPr b="0" lang="en-IN" sz="2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reward.</a:t>
            </a:r>
            <a:endParaRPr b="0" lang="en-IN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b="0" lang="en-IN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Sometimes</a:t>
            </a:r>
            <a:r>
              <a:rPr b="0" lang="en-IN" sz="2600" spc="-7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referred</a:t>
            </a:r>
            <a:r>
              <a:rPr b="0" lang="en-IN" sz="2600" spc="-8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to</a:t>
            </a:r>
            <a:r>
              <a:rPr b="0" lang="en-IN" sz="2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as</a:t>
            </a:r>
            <a:r>
              <a:rPr b="0" lang="en-IN" sz="2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'vishing’,</a:t>
            </a:r>
            <a:r>
              <a:rPr b="0" lang="en-IN" sz="2600" spc="-6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Voice</a:t>
            </a:r>
            <a:r>
              <a:rPr b="0" lang="en-IN" sz="2600" spc="-7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phishing</a:t>
            </a:r>
            <a:r>
              <a:rPr b="0" lang="en-IN" sz="2600" spc="-8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is </a:t>
            </a:r>
            <a:r>
              <a:rPr b="0" lang="en-IN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typically</a:t>
            </a:r>
            <a:r>
              <a:rPr b="0" lang="en-IN" sz="2600" spc="-6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used</a:t>
            </a:r>
            <a:r>
              <a:rPr b="0" lang="en-IN" sz="2600" spc="-7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to</a:t>
            </a:r>
            <a:r>
              <a:rPr b="0" lang="en-IN" sz="26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steal</a:t>
            </a:r>
            <a:r>
              <a:rPr b="0" lang="en-IN" sz="2600" spc="-7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credit</a:t>
            </a:r>
            <a:r>
              <a:rPr b="0" lang="en-IN" sz="2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card</a:t>
            </a:r>
            <a:r>
              <a:rPr b="0" lang="en-IN" sz="2600" spc="-6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numbers</a:t>
            </a:r>
            <a:r>
              <a:rPr b="0" lang="en-IN" sz="2600" spc="-7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or</a:t>
            </a:r>
            <a:r>
              <a:rPr b="0" lang="en-IN" sz="2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other information</a:t>
            </a:r>
            <a:r>
              <a:rPr b="0" lang="en-IN" sz="2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used</a:t>
            </a:r>
            <a:r>
              <a:rPr b="0" lang="en-IN" sz="2600" spc="-6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in</a:t>
            </a:r>
            <a:r>
              <a:rPr b="0" lang="en-IN" sz="26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identity</a:t>
            </a:r>
            <a:r>
              <a:rPr b="0" lang="en-IN" sz="2600" spc="-7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theft</a:t>
            </a:r>
            <a:r>
              <a:rPr b="0" lang="en-IN" sz="2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schemes</a:t>
            </a:r>
            <a:r>
              <a:rPr b="0" lang="en-IN" sz="2600" spc="-8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from </a:t>
            </a:r>
            <a:r>
              <a:rPr b="0" lang="en-IN" sz="2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individuals.</a:t>
            </a:r>
            <a:endParaRPr b="0" lang="en-IN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0" y="144000"/>
            <a:ext cx="1619640" cy="1439640"/>
          </a:xfrm>
          <a:custGeom>
            <a:avLst/>
            <a:gdLst>
              <a:gd name="textAreaLeft" fmla="*/ 0 w 1619640"/>
              <a:gd name="textAreaRight" fmla="*/ 1620000 w 1619640"/>
              <a:gd name="textAreaTop" fmla="*/ 0 h 1439640"/>
              <a:gd name="textAreaBottom" fmla="*/ 1440000 h 1439640"/>
            </a:gdLst>
            <a:ahLst/>
            <a:cxnLst/>
            <a:rect l="textAreaLeft" t="textAreaTop" r="textAreaRight" b="textAreaBottom"/>
            <a:pathLst>
              <a:path w="4500" h="4000">
                <a:moveTo>
                  <a:pt x="0" y="4000"/>
                </a:moveTo>
                <a:cubicBezTo>
                  <a:pt x="0" y="2667"/>
                  <a:pt x="0" y="1333"/>
                  <a:pt x="0" y="0"/>
                </a:cubicBezTo>
                <a:cubicBezTo>
                  <a:pt x="1500" y="0"/>
                  <a:pt x="3000" y="0"/>
                  <a:pt x="4500" y="0"/>
                </a:cubicBezTo>
                <a:cubicBezTo>
                  <a:pt x="4500" y="1333"/>
                  <a:pt x="4500" y="2667"/>
                  <a:pt x="4500" y="4000"/>
                </a:cubicBezTo>
                <a:cubicBezTo>
                  <a:pt x="3000" y="4000"/>
                  <a:pt x="1500" y="4000"/>
                  <a:pt x="0" y="4000"/>
                </a:cubicBez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1496880" y="594000"/>
            <a:ext cx="6149520" cy="802080"/>
          </a:xfrm>
          <a:prstGeom prst="rect">
            <a:avLst/>
          </a:prstGeom>
          <a:noFill/>
          <a:ln w="0">
            <a:noFill/>
          </a:ln>
        </p:spPr>
        <p:txBody>
          <a:bodyPr lIns="0" rIns="0" tIns="13320" bIns="0" anchor="t">
            <a:spAutoFit/>
          </a:bodyPr>
          <a:p>
            <a:pPr marL="12600" indent="0">
              <a:lnSpc>
                <a:spcPts val="3529"/>
              </a:lnSpc>
              <a:spcBef>
                <a:spcPts val="105"/>
              </a:spcBef>
              <a:buNone/>
              <a:tabLst>
                <a:tab algn="l" pos="0"/>
              </a:tabLst>
            </a:pPr>
            <a:r>
              <a:rPr b="0" lang="en-IN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Examples</a:t>
            </a:r>
            <a:r>
              <a:rPr b="0" lang="en-IN" sz="3200" spc="-9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of</a:t>
            </a:r>
            <a:r>
              <a:rPr b="0" lang="en-IN" sz="3200" spc="-96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Phishing</a:t>
            </a:r>
            <a:r>
              <a:rPr b="0" lang="en-IN" sz="3200" spc="-65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3200" spc="-1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Attacks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01600" indent="0">
              <a:lnSpc>
                <a:spcPts val="2571"/>
              </a:lnSpc>
              <a:buNone/>
              <a:tabLst>
                <a:tab algn="l" pos="0"/>
              </a:tabLst>
            </a:pPr>
            <a:r>
              <a:rPr b="0" lang="en-IN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     Spear</a:t>
            </a:r>
            <a:r>
              <a:rPr b="0" lang="en-IN" sz="2400" spc="-5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400" spc="-1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Phishing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" name="object 3" descr=""/>
          <p:cNvPicPr/>
          <p:nvPr/>
        </p:nvPicPr>
        <p:blipFill>
          <a:blip r:embed="rId1"/>
          <a:stretch/>
        </p:blipFill>
        <p:spPr>
          <a:xfrm>
            <a:off x="1440000" y="1620000"/>
            <a:ext cx="6909120" cy="403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object 4"/>
          <p:cNvSpPr/>
          <p:nvPr/>
        </p:nvSpPr>
        <p:spPr>
          <a:xfrm>
            <a:off x="203400" y="3420000"/>
            <a:ext cx="8976240" cy="319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355680" indent="-343080">
              <a:lnSpc>
                <a:spcPct val="100000"/>
              </a:lnSpc>
              <a:spcBef>
                <a:spcPts val="96"/>
              </a:spcBef>
              <a:buClr>
                <a:srgbClr val="000000"/>
              </a:buClr>
              <a:buFont typeface="OpenSymbol"/>
              <a:buAutoNum type="arabicPeriod"/>
              <a:tabLst>
                <a:tab algn="l" pos="355680"/>
              </a:tabLst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first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question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have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to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ask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is,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“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Do</a:t>
            </a:r>
            <a:r>
              <a:rPr b="1" lang="en-IN" sz="1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</a:t>
            </a:r>
            <a:r>
              <a:rPr b="1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know</a:t>
            </a:r>
            <a:r>
              <a:rPr b="1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this</a:t>
            </a:r>
            <a:r>
              <a:rPr b="1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person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?”</a:t>
            </a:r>
            <a:r>
              <a:rPr b="0" lang="en-IN" sz="1600" spc="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or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“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Am</a:t>
            </a:r>
            <a:r>
              <a:rPr b="1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</a:t>
            </a:r>
            <a:r>
              <a:rPr b="1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expecting</a:t>
            </a:r>
            <a:r>
              <a:rPr b="1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</a:t>
            </a:r>
            <a:r>
              <a:rPr b="1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email</a:t>
            </a:r>
            <a:r>
              <a:rPr b="1" lang="en-IN" sz="16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from </a:t>
            </a:r>
            <a:r>
              <a:rPr b="1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 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person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?”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If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answered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no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to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either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question,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must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take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harder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look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at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other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aspects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of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email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00680" indent="-38808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  <a:tabLst>
                <a:tab algn="l" pos="400680"/>
              </a:tabLst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en-IN" sz="1600" spc="31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large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amount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of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phishing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emails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will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blank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out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To: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or</a:t>
            </a:r>
            <a:r>
              <a:rPr b="0" lang="en-IN" sz="1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Cc: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fields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so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that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cannot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see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that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this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is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5680">
              <a:lnSpc>
                <a:spcPct val="100000"/>
              </a:lnSpc>
              <a:tabLst>
                <a:tab algn="l" pos="400680"/>
              </a:tabLst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mass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email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to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large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group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of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people.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5680" indent="-343080">
              <a:lnSpc>
                <a:spcPct val="100000"/>
              </a:lnSpc>
              <a:buClr>
                <a:srgbClr val="000000"/>
              </a:buClr>
              <a:buFont typeface="OpenSymbol"/>
              <a:buAutoNum type="arabicPeriod" startAt="3"/>
              <a:tabLst>
                <a:tab algn="l" pos="355680"/>
              </a:tabLst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Phishing</a:t>
            </a:r>
            <a:r>
              <a:rPr b="0" lang="en-IN" sz="1600" spc="-6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emails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will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often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come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with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subjects</a:t>
            </a:r>
            <a:r>
              <a:rPr b="0" lang="en-IN" sz="1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that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are</a:t>
            </a:r>
            <a:r>
              <a:rPr b="0" lang="en-IN" sz="1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in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all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capitals</a:t>
            </a:r>
            <a:r>
              <a:rPr b="0" lang="en-IN" sz="16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or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have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multiple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exclamation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marks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in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order</a:t>
            </a:r>
            <a:r>
              <a:rPr b="0" lang="en-IN" sz="16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for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to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think</a:t>
            </a:r>
            <a:r>
              <a:rPr b="0" lang="en-IN" sz="16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that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this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email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is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important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or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that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</a:t>
            </a:r>
            <a:r>
              <a:rPr b="0" lang="en-IN" sz="1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should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take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recommended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action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within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email.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4960" indent="-342360">
              <a:lnSpc>
                <a:spcPct val="100000"/>
              </a:lnSpc>
              <a:buClr>
                <a:srgbClr val="000000"/>
              </a:buClr>
              <a:buFont typeface="OpenSymbol"/>
              <a:buAutoNum type="arabicPeriod" startAt="3"/>
              <a:tabLst>
                <a:tab algn="l" pos="354960"/>
              </a:tabLst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This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is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targeted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email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(Spear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Phishing)</a:t>
            </a:r>
            <a:r>
              <a:rPr b="0" lang="en-IN" sz="1600" spc="-6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to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VSU,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so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more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than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likely,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this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was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sent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to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everyone</a:t>
            </a:r>
            <a:r>
              <a:rPr b="0" lang="en-IN" sz="1600" spc="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at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VSU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5680">
              <a:lnSpc>
                <a:spcPct val="100000"/>
              </a:lnSpc>
              <a:spcBef>
                <a:spcPts val="6"/>
              </a:spcBef>
              <a:tabLst>
                <a:tab algn="l" pos="354960"/>
              </a:tabLst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that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sender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had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in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their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address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book.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5680" indent="-343080">
              <a:lnSpc>
                <a:spcPct val="100000"/>
              </a:lnSpc>
              <a:buClr>
                <a:srgbClr val="000000"/>
              </a:buClr>
              <a:buFont typeface="OpenSymbol"/>
              <a:buAutoNum type="arabicPeriod" startAt="5"/>
              <a:tabLst>
                <a:tab algn="l" pos="355680"/>
              </a:tabLst>
            </a:pP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Hovering</a:t>
            </a:r>
            <a:r>
              <a:rPr b="1" lang="en-IN" sz="1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your</a:t>
            </a:r>
            <a:r>
              <a:rPr b="1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mouse</a:t>
            </a:r>
            <a:r>
              <a:rPr b="1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over</a:t>
            </a:r>
            <a:r>
              <a:rPr b="1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b="1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link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,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</a:t>
            </a:r>
            <a:r>
              <a:rPr b="0" lang="en-IN" sz="1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can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see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that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this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is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not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taking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to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valdosta.edu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address,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but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rather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to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external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site.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This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site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would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either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prompt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for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en-IN" sz="16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password,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then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steal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that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password,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or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would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download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malicious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file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infecting</a:t>
            </a:r>
            <a:r>
              <a:rPr b="0" lang="en-IN" sz="1600" spc="-6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your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computer.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0" y="144000"/>
            <a:ext cx="1619640" cy="1439640"/>
          </a:xfrm>
          <a:custGeom>
            <a:avLst/>
            <a:gdLst>
              <a:gd name="textAreaLeft" fmla="*/ 0 w 1619640"/>
              <a:gd name="textAreaRight" fmla="*/ 1620000 w 1619640"/>
              <a:gd name="textAreaTop" fmla="*/ 0 h 1439640"/>
              <a:gd name="textAreaBottom" fmla="*/ 1440000 h 1439640"/>
            </a:gdLst>
            <a:ahLst/>
            <a:cxnLst/>
            <a:rect l="textAreaLeft" t="textAreaTop" r="textAreaRight" b="textAreaBottom"/>
            <a:pathLst>
              <a:path w="4500" h="4000">
                <a:moveTo>
                  <a:pt x="0" y="4000"/>
                </a:moveTo>
                <a:cubicBezTo>
                  <a:pt x="0" y="2667"/>
                  <a:pt x="0" y="1333"/>
                  <a:pt x="0" y="0"/>
                </a:cubicBezTo>
                <a:cubicBezTo>
                  <a:pt x="1500" y="0"/>
                  <a:pt x="3000" y="0"/>
                  <a:pt x="4500" y="0"/>
                </a:cubicBezTo>
                <a:cubicBezTo>
                  <a:pt x="4500" y="1333"/>
                  <a:pt x="4500" y="2667"/>
                  <a:pt x="4500" y="4000"/>
                </a:cubicBezTo>
                <a:cubicBezTo>
                  <a:pt x="3000" y="4000"/>
                  <a:pt x="1500" y="4000"/>
                  <a:pt x="0" y="4000"/>
                </a:cubicBez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1496880" y="594000"/>
            <a:ext cx="6149520" cy="802080"/>
          </a:xfrm>
          <a:prstGeom prst="rect">
            <a:avLst/>
          </a:prstGeom>
          <a:noFill/>
          <a:ln w="0">
            <a:noFill/>
          </a:ln>
        </p:spPr>
        <p:txBody>
          <a:bodyPr lIns="0" rIns="0" tIns="13320" bIns="0" anchor="t">
            <a:spAutoFit/>
          </a:bodyPr>
          <a:p>
            <a:pPr marL="12600" indent="0">
              <a:lnSpc>
                <a:spcPts val="3529"/>
              </a:lnSpc>
              <a:spcBef>
                <a:spcPts val="105"/>
              </a:spcBef>
              <a:buNone/>
              <a:tabLst>
                <a:tab algn="l" pos="0"/>
              </a:tabLst>
            </a:pPr>
            <a:r>
              <a:rPr b="0" lang="en-IN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Examples</a:t>
            </a:r>
            <a:r>
              <a:rPr b="0" lang="en-IN" sz="3200" spc="-9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of</a:t>
            </a:r>
            <a:r>
              <a:rPr b="0" lang="en-IN" sz="3200" spc="-96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Phishing</a:t>
            </a:r>
            <a:r>
              <a:rPr b="0" lang="en-IN" sz="3200" spc="-65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3200" spc="-1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Attacks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01600" indent="0">
              <a:lnSpc>
                <a:spcPts val="2571"/>
              </a:lnSpc>
              <a:buNone/>
              <a:tabLst>
                <a:tab algn="l" pos="0"/>
              </a:tabLst>
            </a:pPr>
            <a:r>
              <a:rPr b="0" lang="en-IN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     Spear</a:t>
            </a:r>
            <a:r>
              <a:rPr b="0" lang="en-IN" sz="2400" spc="-5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400" spc="-1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Phishing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3" name="object 3"/>
          <p:cNvGrpSpPr/>
          <p:nvPr/>
        </p:nvGrpSpPr>
        <p:grpSpPr>
          <a:xfrm>
            <a:off x="380880" y="1676520"/>
            <a:ext cx="8381520" cy="4060800"/>
            <a:chOff x="380880" y="1676520"/>
            <a:chExt cx="8381520" cy="4060800"/>
          </a:xfrm>
        </p:grpSpPr>
        <p:pic>
          <p:nvPicPr>
            <p:cNvPr id="54" name="object 4" descr=""/>
            <p:cNvPicPr/>
            <p:nvPr/>
          </p:nvPicPr>
          <p:blipFill>
            <a:blip r:embed="rId1"/>
            <a:stretch/>
          </p:blipFill>
          <p:spPr>
            <a:xfrm>
              <a:off x="422280" y="1676520"/>
              <a:ext cx="8340120" cy="33062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55" name="object 5"/>
            <p:cNvSpPr/>
            <p:nvPr/>
          </p:nvSpPr>
          <p:spPr>
            <a:xfrm>
              <a:off x="380880" y="3429000"/>
              <a:ext cx="8381160" cy="2308320"/>
            </a:xfrm>
            <a:custGeom>
              <a:avLst/>
              <a:gdLst>
                <a:gd name="textAreaLeft" fmla="*/ 0 w 8381160"/>
                <a:gd name="textAreaRight" fmla="*/ 8381880 w 8381160"/>
                <a:gd name="textAreaTop" fmla="*/ 0 h 2308320"/>
                <a:gd name="textAreaBottom" fmla="*/ 2309040 h 2308320"/>
              </a:gdLst>
              <a:ahLst/>
              <a:cxnLst/>
              <a:rect l="textAreaLeft" t="textAreaTop" r="textAreaRight" b="textAreaBottom"/>
              <a:pathLst>
                <a:path w="8382000" h="2308860">
                  <a:moveTo>
                    <a:pt x="8382000" y="0"/>
                  </a:moveTo>
                  <a:lnTo>
                    <a:pt x="0" y="0"/>
                  </a:lnTo>
                  <a:lnTo>
                    <a:pt x="0" y="2308860"/>
                  </a:lnTo>
                  <a:lnTo>
                    <a:pt x="8382000" y="2308860"/>
                  </a:lnTo>
                  <a:lnTo>
                    <a:pt x="838200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" name="object 6"/>
            <p:cNvSpPr/>
            <p:nvPr/>
          </p:nvSpPr>
          <p:spPr>
            <a:xfrm>
              <a:off x="380880" y="3429000"/>
              <a:ext cx="8381160" cy="2308320"/>
            </a:xfrm>
            <a:custGeom>
              <a:avLst/>
              <a:gdLst>
                <a:gd name="textAreaLeft" fmla="*/ 0 w 8381160"/>
                <a:gd name="textAreaRight" fmla="*/ 8381880 w 8381160"/>
                <a:gd name="textAreaTop" fmla="*/ 0 h 2308320"/>
                <a:gd name="textAreaBottom" fmla="*/ 2309040 h 2308320"/>
              </a:gdLst>
              <a:ahLst/>
              <a:cxnLst/>
              <a:rect l="textAreaLeft" t="textAreaTop" r="textAreaRight" b="textAreaBottom"/>
              <a:pathLst>
                <a:path w="8382000" h="2308860">
                  <a:moveTo>
                    <a:pt x="0" y="2308860"/>
                  </a:moveTo>
                  <a:lnTo>
                    <a:pt x="8382000" y="2308860"/>
                  </a:lnTo>
                  <a:lnTo>
                    <a:pt x="8382000" y="0"/>
                  </a:lnTo>
                  <a:lnTo>
                    <a:pt x="0" y="0"/>
                  </a:lnTo>
                  <a:lnTo>
                    <a:pt x="0" y="2308860"/>
                  </a:lnTo>
                  <a:close/>
                </a:path>
              </a:pathLst>
            </a:custGeom>
            <a:noFill/>
            <a:ln w="9144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7" name="object 7"/>
          <p:cNvSpPr/>
          <p:nvPr/>
        </p:nvSpPr>
        <p:spPr>
          <a:xfrm>
            <a:off x="459720" y="3450600"/>
            <a:ext cx="8191440" cy="22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355680" indent="-343080">
              <a:lnSpc>
                <a:spcPct val="100000"/>
              </a:lnSpc>
              <a:spcBef>
                <a:spcPts val="96"/>
              </a:spcBef>
              <a:buClr>
                <a:srgbClr val="000000"/>
              </a:buClr>
              <a:buFont typeface="OpenSymbol"/>
              <a:buAutoNum type="arabicPeriod"/>
              <a:tabLst>
                <a:tab algn="l" pos="355680"/>
              </a:tabLst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Looking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at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Sender,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can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see</a:t>
            </a:r>
            <a:r>
              <a:rPr b="0" lang="en-IN" sz="1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that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this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is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not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from</a:t>
            </a:r>
            <a:r>
              <a:rPr b="0" lang="en-IN" sz="1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valdosta.edu</a:t>
            </a:r>
            <a:r>
              <a:rPr b="0" lang="en-IN" sz="16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email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address,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but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rather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ucla.edu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address.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This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should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be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first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warning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that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this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is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not</a:t>
            </a:r>
            <a:r>
              <a:rPr b="1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legitimate</a:t>
            </a:r>
            <a:r>
              <a:rPr b="0" lang="en-IN" sz="1600" spc="-6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email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since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it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is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talking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about</a:t>
            </a:r>
            <a:r>
              <a:rPr b="0" lang="en-IN" sz="1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Valdosta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email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upgrade.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5680" indent="-343080">
              <a:lnSpc>
                <a:spcPct val="100000"/>
              </a:lnSpc>
              <a:spcBef>
                <a:spcPts val="6"/>
              </a:spcBef>
              <a:buClr>
                <a:srgbClr val="000000"/>
              </a:buClr>
              <a:buFont typeface="OpenSymbol"/>
              <a:buAutoNum type="arabicPeriod"/>
              <a:tabLst>
                <a:tab algn="l" pos="355680"/>
              </a:tabLst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Once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again,</a:t>
            </a:r>
            <a:r>
              <a:rPr b="0" lang="en-IN" sz="16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To: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and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Cc: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fields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are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greyed</a:t>
            </a:r>
            <a:r>
              <a:rPr b="0" lang="en-IN" sz="1600" spc="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out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so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that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can’t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see</a:t>
            </a:r>
            <a:r>
              <a:rPr b="0" lang="en-IN" sz="1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this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is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mass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email.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Also,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as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referenced</a:t>
            </a:r>
            <a:r>
              <a:rPr b="0" lang="en-IN" sz="1600" spc="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by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Subject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line,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“Valdosta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Upgrade”,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this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is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targeted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attack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to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VSU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email addresses.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5680" indent="-34308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  <a:tabLst>
                <a:tab algn="l" pos="355680"/>
              </a:tabLst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As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</a:t>
            </a:r>
            <a:r>
              <a:rPr b="0" lang="en-IN" sz="16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can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see,</a:t>
            </a:r>
            <a:r>
              <a:rPr b="0" lang="en-IN" sz="16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this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link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is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not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part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of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valdosta.edu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domain,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but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external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site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at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jimdo.com.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This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should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be</a:t>
            </a:r>
            <a:r>
              <a:rPr b="0" lang="en-IN" sz="1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another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warning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that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this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is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not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legitimate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email,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and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more</a:t>
            </a:r>
            <a:r>
              <a:rPr b="0" lang="en-IN" sz="1600" spc="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than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likely</a:t>
            </a:r>
            <a:r>
              <a:rPr b="0" lang="en-IN" sz="1600" spc="-6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phishing</a:t>
            </a:r>
            <a:r>
              <a:rPr b="0" lang="en-IN" sz="1600" spc="-79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for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your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credentials.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0" y="144000"/>
            <a:ext cx="1619640" cy="1439640"/>
          </a:xfrm>
          <a:custGeom>
            <a:avLst/>
            <a:gdLst>
              <a:gd name="textAreaLeft" fmla="*/ 0 w 1619640"/>
              <a:gd name="textAreaRight" fmla="*/ 1620000 w 1619640"/>
              <a:gd name="textAreaTop" fmla="*/ 0 h 1439640"/>
              <a:gd name="textAreaBottom" fmla="*/ 1440000 h 1439640"/>
            </a:gdLst>
            <a:ahLst/>
            <a:cxnLst/>
            <a:rect l="textAreaLeft" t="textAreaTop" r="textAreaRight" b="textAreaBottom"/>
            <a:pathLst>
              <a:path w="4500" h="4000">
                <a:moveTo>
                  <a:pt x="0" y="4000"/>
                </a:moveTo>
                <a:cubicBezTo>
                  <a:pt x="0" y="2667"/>
                  <a:pt x="0" y="1333"/>
                  <a:pt x="0" y="0"/>
                </a:cubicBezTo>
                <a:cubicBezTo>
                  <a:pt x="1500" y="0"/>
                  <a:pt x="3000" y="0"/>
                  <a:pt x="4500" y="0"/>
                </a:cubicBezTo>
                <a:cubicBezTo>
                  <a:pt x="4500" y="1333"/>
                  <a:pt x="4500" y="2667"/>
                  <a:pt x="4500" y="4000"/>
                </a:cubicBezTo>
                <a:cubicBezTo>
                  <a:pt x="3000" y="4000"/>
                  <a:pt x="1500" y="4000"/>
                  <a:pt x="0" y="4000"/>
                </a:cubicBez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496880" y="518040"/>
            <a:ext cx="4982760" cy="989640"/>
          </a:xfrm>
          <a:prstGeom prst="rect">
            <a:avLst/>
          </a:prstGeom>
          <a:noFill/>
          <a:ln w="0">
            <a:noFill/>
          </a:ln>
        </p:spPr>
        <p:txBody>
          <a:bodyPr lIns="0" rIns="0" tIns="13320" bIns="0" anchor="t">
            <a:spAutoFit/>
          </a:bodyPr>
          <a:p>
            <a:pPr marL="12600" indent="0">
              <a:lnSpc>
                <a:spcPct val="100000"/>
              </a:lnSpc>
              <a:spcBef>
                <a:spcPts val="105"/>
              </a:spcBef>
              <a:buNone/>
              <a:tabLst>
                <a:tab algn="l" pos="0"/>
              </a:tabLst>
            </a:pPr>
            <a:r>
              <a:rPr b="0" lang="en-IN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Examples</a:t>
            </a:r>
            <a:r>
              <a:rPr b="0" lang="en-IN" sz="3200" spc="-9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of</a:t>
            </a:r>
            <a:r>
              <a:rPr b="0" lang="en-IN" sz="3200" spc="-96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Phishing</a:t>
            </a:r>
            <a:r>
              <a:rPr b="0" lang="en-IN" sz="3200" spc="-65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3200" spc="-1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Attacks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object 3"/>
          <p:cNvSpPr/>
          <p:nvPr/>
        </p:nvSpPr>
        <p:spPr>
          <a:xfrm>
            <a:off x="2700000" y="900000"/>
            <a:ext cx="227304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  Clone</a:t>
            </a:r>
            <a:r>
              <a:rPr b="0" lang="en-IN" sz="2400" spc="-6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4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Phishing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1" name="object 4"/>
          <p:cNvGrpSpPr/>
          <p:nvPr/>
        </p:nvGrpSpPr>
        <p:grpSpPr>
          <a:xfrm>
            <a:off x="180000" y="1260000"/>
            <a:ext cx="8762400" cy="5637960"/>
            <a:chOff x="180000" y="1260000"/>
            <a:chExt cx="8762400" cy="5637960"/>
          </a:xfrm>
        </p:grpSpPr>
        <p:pic>
          <p:nvPicPr>
            <p:cNvPr id="62" name="object 5" descr=""/>
            <p:cNvPicPr/>
            <p:nvPr/>
          </p:nvPicPr>
          <p:blipFill>
            <a:blip r:embed="rId1"/>
            <a:stretch/>
          </p:blipFill>
          <p:spPr>
            <a:xfrm>
              <a:off x="1550160" y="1260000"/>
              <a:ext cx="6912000" cy="37148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63" name="object 6"/>
            <p:cNvSpPr/>
            <p:nvPr/>
          </p:nvSpPr>
          <p:spPr>
            <a:xfrm>
              <a:off x="180000" y="4384080"/>
              <a:ext cx="8762400" cy="2513880"/>
            </a:xfrm>
            <a:custGeom>
              <a:avLst/>
              <a:gdLst>
                <a:gd name="textAreaLeft" fmla="*/ 0 w 8762400"/>
                <a:gd name="textAreaRight" fmla="*/ 8763120 w 8762400"/>
                <a:gd name="textAreaTop" fmla="*/ 0 h 2513880"/>
                <a:gd name="textAreaBottom" fmla="*/ 2514600 h 2513880"/>
              </a:gdLst>
              <a:ahLst/>
              <a:cxnLst/>
              <a:rect l="textAreaLeft" t="textAreaTop" r="textAreaRight" b="textAreaBottom"/>
              <a:pathLst>
                <a:path w="8763000" h="2514600">
                  <a:moveTo>
                    <a:pt x="8763000" y="0"/>
                  </a:moveTo>
                  <a:lnTo>
                    <a:pt x="0" y="0"/>
                  </a:lnTo>
                  <a:lnTo>
                    <a:pt x="0" y="2514600"/>
                  </a:lnTo>
                  <a:lnTo>
                    <a:pt x="8763000" y="2514600"/>
                  </a:lnTo>
                  <a:lnTo>
                    <a:pt x="876300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4" name="object 7"/>
          <p:cNvSpPr/>
          <p:nvPr/>
        </p:nvSpPr>
        <p:spPr>
          <a:xfrm>
            <a:off x="254520" y="4365360"/>
            <a:ext cx="8578800" cy="22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355680" indent="-343080">
              <a:lnSpc>
                <a:spcPct val="100000"/>
              </a:lnSpc>
              <a:spcBef>
                <a:spcPts val="96"/>
              </a:spcBef>
              <a:buClr>
                <a:srgbClr val="000000"/>
              </a:buClr>
              <a:buFont typeface="OpenSymbol"/>
              <a:buAutoNum type="arabicPeriod"/>
              <a:tabLst>
                <a:tab algn="l" pos="355680"/>
              </a:tabLst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These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emails</a:t>
            </a:r>
            <a:r>
              <a:rPr b="0" lang="en-IN" sz="16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are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harder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to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spot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because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they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look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exactly</a:t>
            </a:r>
            <a:r>
              <a:rPr b="0" lang="en-IN" sz="16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like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legitimate</a:t>
            </a:r>
            <a:r>
              <a:rPr b="0" lang="en-IN" sz="1600" spc="-6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emails</a:t>
            </a:r>
            <a:r>
              <a:rPr b="0" lang="en-IN" sz="16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would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normally receive.</a:t>
            </a:r>
            <a:r>
              <a:rPr b="0" lang="en-IN" sz="16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first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cue</a:t>
            </a:r>
            <a:r>
              <a:rPr b="0" lang="en-IN" sz="1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that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something</a:t>
            </a:r>
            <a:r>
              <a:rPr b="0" lang="en-IN" sz="1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is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not</a:t>
            </a:r>
            <a:r>
              <a:rPr b="0" lang="en-IN" sz="1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right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with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this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email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is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b="0" lang="en-IN" sz="1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sender.</a:t>
            </a:r>
            <a:r>
              <a:rPr b="0" lang="en-IN" sz="1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It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is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generic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address, </a:t>
            </a:r>
            <a:r>
              <a:rPr b="0" lang="en-IN" sz="1600" spc="-11" strike="noStrike" u="sng">
                <a:solidFill>
                  <a:srgbClr val="0000ff"/>
                </a:solidFill>
                <a:effectLst/>
                <a:uFillTx/>
                <a:latin typeface="Calibri"/>
                <a:hlinkClick r:id="rId2"/>
              </a:rPr>
              <a:t>member@ebay.com.</a:t>
            </a:r>
            <a:r>
              <a:rPr b="0" lang="en-IN" sz="1600" spc="29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would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never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see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this</a:t>
            </a:r>
            <a:r>
              <a:rPr b="0" lang="en-IN" sz="16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from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en-IN" sz="16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legitimate</a:t>
            </a:r>
            <a:r>
              <a:rPr b="0" lang="en-IN" sz="1600" spc="-7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email,</a:t>
            </a:r>
            <a:r>
              <a:rPr b="0" lang="en-IN" sz="1600" spc="-6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would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see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b="0" lang="en-IN" sz="1600" spc="499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username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of</a:t>
            </a:r>
            <a:r>
              <a:rPr b="0" lang="en-IN" sz="1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buyer/seller;</a:t>
            </a:r>
            <a:r>
              <a:rPr b="0" lang="en-IN" sz="1600" spc="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e.g.;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sng">
                <a:solidFill>
                  <a:srgbClr val="0000ff"/>
                </a:solidFill>
                <a:effectLst/>
                <a:uFillTx/>
                <a:latin typeface="Calibri"/>
                <a:hlinkClick r:id="rId3"/>
              </a:rPr>
              <a:t>valdostarocks@ebay.com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5680" indent="-34308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  <a:tabLst>
                <a:tab algn="l" pos="355680"/>
              </a:tabLst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question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</a:t>
            </a:r>
            <a:r>
              <a:rPr b="0" lang="en-IN" sz="16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have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to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ask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yourself</a:t>
            </a:r>
            <a:r>
              <a:rPr b="0" lang="en-IN" sz="1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is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did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buy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anything</a:t>
            </a:r>
            <a:r>
              <a:rPr b="0" lang="en-IN" sz="1600" spc="-6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from</a:t>
            </a:r>
            <a:r>
              <a:rPr b="0" lang="en-IN" sz="1600" spc="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ebay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recently,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and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if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did,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is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this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what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purchased?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If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no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to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these</a:t>
            </a:r>
            <a:r>
              <a:rPr b="0" lang="en-IN" sz="1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questions,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then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</a:t>
            </a:r>
            <a:r>
              <a:rPr b="0" lang="en-IN" sz="16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more than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likely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have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phishing</a:t>
            </a:r>
            <a:r>
              <a:rPr b="0" lang="en-IN" sz="1600" spc="-6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email.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5680" indent="-34308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  <a:tabLst>
                <a:tab algn="l" pos="355680"/>
              </a:tabLst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last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piece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is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most</a:t>
            </a:r>
            <a:r>
              <a:rPr b="0" lang="en-IN" sz="1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critical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in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seeing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if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email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is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in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fact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phishing</a:t>
            </a:r>
            <a:r>
              <a:rPr b="0" lang="en-IN" sz="1600" spc="-6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email.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If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</a:t>
            </a:r>
            <a:r>
              <a:rPr b="0" lang="en-IN" sz="1600" spc="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hover</a:t>
            </a:r>
            <a:r>
              <a:rPr b="1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your 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mouse</a:t>
            </a:r>
            <a:r>
              <a:rPr b="1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over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button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it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is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wanting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</a:t>
            </a:r>
            <a:r>
              <a:rPr b="0" lang="en-IN" sz="1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to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press,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see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that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this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is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not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taking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</a:t>
            </a:r>
            <a:r>
              <a:rPr b="0" lang="en-IN" sz="1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to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ebay.com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site,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but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rather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external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site</a:t>
            </a:r>
            <a:r>
              <a:rPr b="0" lang="en-IN" sz="16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that</a:t>
            </a:r>
            <a:r>
              <a:rPr b="0" lang="en-IN" sz="16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will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more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than</a:t>
            </a:r>
            <a:r>
              <a:rPr b="0" lang="en-IN" sz="16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likely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try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to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steal</a:t>
            </a:r>
            <a:r>
              <a:rPr b="0" lang="en-IN" sz="1600" spc="-6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your</a:t>
            </a:r>
            <a:r>
              <a:rPr b="0" lang="en-IN" sz="1600" spc="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ebay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credentials.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0" y="144000"/>
            <a:ext cx="1619640" cy="1439640"/>
          </a:xfrm>
          <a:custGeom>
            <a:avLst/>
            <a:gdLst>
              <a:gd name="textAreaLeft" fmla="*/ 0 w 1619640"/>
              <a:gd name="textAreaRight" fmla="*/ 1620000 w 1619640"/>
              <a:gd name="textAreaTop" fmla="*/ 0 h 1439640"/>
              <a:gd name="textAreaBottom" fmla="*/ 1440000 h 1439640"/>
            </a:gdLst>
            <a:ahLst/>
            <a:cxnLst/>
            <a:rect l="textAreaLeft" t="textAreaTop" r="textAreaRight" b="textAreaBottom"/>
            <a:pathLst>
              <a:path w="4500" h="4000">
                <a:moveTo>
                  <a:pt x="0" y="4000"/>
                </a:moveTo>
                <a:cubicBezTo>
                  <a:pt x="0" y="2667"/>
                  <a:pt x="0" y="1333"/>
                  <a:pt x="0" y="0"/>
                </a:cubicBezTo>
                <a:cubicBezTo>
                  <a:pt x="1500" y="0"/>
                  <a:pt x="3000" y="0"/>
                  <a:pt x="4500" y="0"/>
                </a:cubicBezTo>
                <a:cubicBezTo>
                  <a:pt x="4500" y="1333"/>
                  <a:pt x="4500" y="2667"/>
                  <a:pt x="4500" y="4000"/>
                </a:cubicBezTo>
                <a:cubicBezTo>
                  <a:pt x="3000" y="4000"/>
                  <a:pt x="1500" y="4000"/>
                  <a:pt x="0" y="4000"/>
                </a:cubicBez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496880" y="594000"/>
            <a:ext cx="6149520" cy="802080"/>
          </a:xfrm>
          <a:prstGeom prst="rect">
            <a:avLst/>
          </a:prstGeom>
          <a:noFill/>
          <a:ln w="0">
            <a:noFill/>
          </a:ln>
        </p:spPr>
        <p:txBody>
          <a:bodyPr lIns="0" rIns="0" tIns="13320" bIns="0" anchor="t">
            <a:spAutoFit/>
          </a:bodyPr>
          <a:p>
            <a:pPr marL="12600" indent="0">
              <a:lnSpc>
                <a:spcPts val="3529"/>
              </a:lnSpc>
              <a:spcBef>
                <a:spcPts val="105"/>
              </a:spcBef>
              <a:buNone/>
              <a:tabLst>
                <a:tab algn="l" pos="0"/>
              </a:tabLst>
            </a:pPr>
            <a:r>
              <a:rPr b="0" lang="en-IN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 Examples</a:t>
            </a:r>
            <a:r>
              <a:rPr b="0" lang="en-IN" sz="3200" spc="-9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of</a:t>
            </a:r>
            <a:r>
              <a:rPr b="0" lang="en-IN" sz="3200" spc="-96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Phishing</a:t>
            </a:r>
            <a:r>
              <a:rPr b="0" lang="en-IN" sz="3200" spc="-65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3200" spc="-1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Attacks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01600" indent="0">
              <a:lnSpc>
                <a:spcPts val="2571"/>
              </a:lnSpc>
              <a:buNone/>
              <a:tabLst>
                <a:tab algn="l" pos="0"/>
              </a:tabLst>
            </a:pPr>
            <a:r>
              <a:rPr b="0" lang="en-IN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   Clone</a:t>
            </a:r>
            <a:r>
              <a:rPr b="0" lang="en-IN" sz="2400" spc="-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400" spc="-1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Phishing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" name="object 3" descr=""/>
          <p:cNvPicPr/>
          <p:nvPr/>
        </p:nvPicPr>
        <p:blipFill>
          <a:blip r:embed="rId1"/>
          <a:stretch/>
        </p:blipFill>
        <p:spPr>
          <a:xfrm>
            <a:off x="1523880" y="1371600"/>
            <a:ext cx="7314480" cy="421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object 4"/>
          <p:cNvSpPr/>
          <p:nvPr/>
        </p:nvSpPr>
        <p:spPr>
          <a:xfrm>
            <a:off x="307440" y="4822560"/>
            <a:ext cx="8669520" cy="197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355680" indent="-343080">
              <a:lnSpc>
                <a:spcPct val="100000"/>
              </a:lnSpc>
              <a:spcBef>
                <a:spcPts val="96"/>
              </a:spcBef>
              <a:buClr>
                <a:srgbClr val="000000"/>
              </a:buClr>
              <a:buFont typeface="OpenSymbol"/>
              <a:buAutoNum type="arabicPeriod"/>
              <a:tabLst>
                <a:tab algn="l" pos="355680"/>
              </a:tabLst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Just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like</a:t>
            </a:r>
            <a:r>
              <a:rPr b="0" lang="en-IN" sz="16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in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previous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example,</a:t>
            </a:r>
            <a:r>
              <a:rPr b="0" lang="en-IN" sz="16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this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email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looks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like</a:t>
            </a:r>
            <a:r>
              <a:rPr b="0" lang="en-IN" sz="16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legit</a:t>
            </a:r>
            <a:r>
              <a:rPr b="0" lang="en-IN" sz="1600" spc="-6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PayPal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email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that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would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normally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see.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So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first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thing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to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do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is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to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see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if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recognize</a:t>
            </a:r>
            <a:r>
              <a:rPr b="0" lang="en-IN" sz="1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email,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or</a:t>
            </a:r>
            <a:r>
              <a:rPr b="0" lang="en-IN" sz="1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if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have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done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any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kind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of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transaction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with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this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email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address.</a:t>
            </a:r>
            <a:r>
              <a:rPr b="0" lang="en-IN" sz="1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Also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look</a:t>
            </a:r>
            <a:r>
              <a:rPr b="0" lang="en-IN" sz="1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through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email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for</a:t>
            </a:r>
            <a:r>
              <a:rPr b="0" lang="en-IN" sz="1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spelling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and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grammatical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errors,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as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Cybercriminals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will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often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leave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these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errors</a:t>
            </a:r>
            <a:r>
              <a:rPr b="0" lang="en-IN" sz="1600" spc="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in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body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of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email.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5680" indent="-34308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  <a:tabLst>
                <a:tab algn="l" pos="355680"/>
              </a:tabLst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Second,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see</a:t>
            </a:r>
            <a:r>
              <a:rPr b="0" lang="en-IN" sz="1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if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item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in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question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is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one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that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actually</a:t>
            </a:r>
            <a:r>
              <a:rPr b="0" lang="en-IN" sz="1600" spc="-6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bought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or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sold.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If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not,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then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delete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and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move</a:t>
            </a:r>
            <a:r>
              <a:rPr b="0" lang="en-IN" sz="1600" spc="-6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on.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4960" indent="-34236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  <a:tabLst>
                <a:tab algn="l" pos="354960"/>
              </a:tabLst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Look at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email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circled,</a:t>
            </a:r>
            <a:r>
              <a:rPr b="0" lang="en-IN" sz="1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if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this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was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official</a:t>
            </a:r>
            <a:r>
              <a:rPr b="0" lang="en-IN" sz="16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email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from</a:t>
            </a:r>
            <a:r>
              <a:rPr b="0" lang="en-IN" sz="1600" spc="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paypal,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it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would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end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in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“@paypal.com”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not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5680">
              <a:lnSpc>
                <a:spcPct val="100000"/>
              </a:lnSpc>
              <a:tabLst>
                <a:tab algn="l" pos="354960"/>
              </a:tabLst>
            </a:pP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mail2world.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0" y="144000"/>
            <a:ext cx="1619640" cy="1439640"/>
          </a:xfrm>
          <a:custGeom>
            <a:avLst/>
            <a:gdLst>
              <a:gd name="textAreaLeft" fmla="*/ 0 w 1619640"/>
              <a:gd name="textAreaRight" fmla="*/ 1620000 w 1619640"/>
              <a:gd name="textAreaTop" fmla="*/ 0 h 1439640"/>
              <a:gd name="textAreaBottom" fmla="*/ 1440000 h 1439640"/>
            </a:gdLst>
            <a:ahLst/>
            <a:cxnLst/>
            <a:rect l="textAreaLeft" t="textAreaTop" r="textAreaRight" b="textAreaBottom"/>
            <a:pathLst>
              <a:path w="4500" h="4000">
                <a:moveTo>
                  <a:pt x="0" y="4000"/>
                </a:moveTo>
                <a:cubicBezTo>
                  <a:pt x="0" y="2667"/>
                  <a:pt x="0" y="1333"/>
                  <a:pt x="0" y="0"/>
                </a:cubicBezTo>
                <a:cubicBezTo>
                  <a:pt x="1500" y="0"/>
                  <a:pt x="3000" y="0"/>
                  <a:pt x="4500" y="0"/>
                </a:cubicBezTo>
                <a:cubicBezTo>
                  <a:pt x="4500" y="1333"/>
                  <a:pt x="4500" y="2667"/>
                  <a:pt x="4500" y="4000"/>
                </a:cubicBezTo>
                <a:cubicBezTo>
                  <a:pt x="3000" y="4000"/>
                  <a:pt x="1500" y="4000"/>
                  <a:pt x="0" y="4000"/>
                </a:cubicBez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1496880" y="594000"/>
            <a:ext cx="6149520" cy="802080"/>
          </a:xfrm>
          <a:prstGeom prst="rect">
            <a:avLst/>
          </a:prstGeom>
          <a:noFill/>
          <a:ln w="0">
            <a:noFill/>
          </a:ln>
        </p:spPr>
        <p:txBody>
          <a:bodyPr lIns="0" rIns="0" tIns="13320" bIns="0" anchor="t">
            <a:spAutoFit/>
          </a:bodyPr>
          <a:p>
            <a:pPr marL="12600" indent="0">
              <a:lnSpc>
                <a:spcPts val="3416"/>
              </a:lnSpc>
              <a:spcBef>
                <a:spcPts val="105"/>
              </a:spcBef>
              <a:buNone/>
              <a:tabLst>
                <a:tab algn="l" pos="0"/>
              </a:tabLst>
            </a:pPr>
            <a:r>
              <a:rPr b="0" lang="en-IN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 Examples</a:t>
            </a:r>
            <a:r>
              <a:rPr b="0" lang="en-IN" sz="3200" spc="-9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of</a:t>
            </a:r>
            <a:r>
              <a:rPr b="0" lang="en-IN" sz="3200" spc="-96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Phishing</a:t>
            </a:r>
            <a:r>
              <a:rPr b="0" lang="en-IN" sz="3200" spc="-65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3200" spc="-1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Attacks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26200" indent="0">
              <a:lnSpc>
                <a:spcPts val="2455"/>
              </a:lnSpc>
              <a:buNone/>
              <a:tabLst>
                <a:tab algn="l" pos="0"/>
              </a:tabLst>
            </a:pPr>
            <a:r>
              <a:rPr b="0" lang="en-IN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       Link</a:t>
            </a:r>
            <a:r>
              <a:rPr b="0" lang="en-IN" sz="2400" spc="-4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400" spc="-1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manipulation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1" name="object 3"/>
          <p:cNvGrpSpPr/>
          <p:nvPr/>
        </p:nvGrpSpPr>
        <p:grpSpPr>
          <a:xfrm>
            <a:off x="228600" y="1671840"/>
            <a:ext cx="8533800" cy="5149080"/>
            <a:chOff x="228600" y="1671840"/>
            <a:chExt cx="8533800" cy="5149080"/>
          </a:xfrm>
        </p:grpSpPr>
        <p:pic>
          <p:nvPicPr>
            <p:cNvPr id="72" name="object 4" descr=""/>
            <p:cNvPicPr/>
            <p:nvPr/>
          </p:nvPicPr>
          <p:blipFill>
            <a:blip r:embed="rId1"/>
            <a:stretch/>
          </p:blipFill>
          <p:spPr>
            <a:xfrm>
              <a:off x="457200" y="1671840"/>
              <a:ext cx="8152560" cy="29757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73" name="object 5"/>
            <p:cNvSpPr/>
            <p:nvPr/>
          </p:nvSpPr>
          <p:spPr>
            <a:xfrm>
              <a:off x="228600" y="4267080"/>
              <a:ext cx="8533800" cy="2553840"/>
            </a:xfrm>
            <a:custGeom>
              <a:avLst/>
              <a:gdLst>
                <a:gd name="textAreaLeft" fmla="*/ 0 w 8533800"/>
                <a:gd name="textAreaRight" fmla="*/ 8534520 w 8533800"/>
                <a:gd name="textAreaTop" fmla="*/ 0 h 2553840"/>
                <a:gd name="textAreaBottom" fmla="*/ 2554560 h 2553840"/>
              </a:gdLst>
              <a:ahLst/>
              <a:cxnLst/>
              <a:rect l="textAreaLeft" t="textAreaTop" r="textAreaRight" b="textAreaBottom"/>
              <a:pathLst>
                <a:path w="8534400" h="2554604">
                  <a:moveTo>
                    <a:pt x="8534400" y="0"/>
                  </a:moveTo>
                  <a:lnTo>
                    <a:pt x="0" y="0"/>
                  </a:lnTo>
                  <a:lnTo>
                    <a:pt x="0" y="2554223"/>
                  </a:lnTo>
                  <a:lnTo>
                    <a:pt x="8534400" y="2554223"/>
                  </a:lnTo>
                  <a:lnTo>
                    <a:pt x="853440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4" name="object 6"/>
          <p:cNvSpPr/>
          <p:nvPr/>
        </p:nvSpPr>
        <p:spPr>
          <a:xfrm>
            <a:off x="307440" y="4289400"/>
            <a:ext cx="8229600" cy="246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355680" indent="-343080">
              <a:lnSpc>
                <a:spcPct val="100000"/>
              </a:lnSpc>
              <a:spcBef>
                <a:spcPts val="96"/>
              </a:spcBef>
              <a:buClr>
                <a:srgbClr val="000000"/>
              </a:buClr>
              <a:buFont typeface="OpenSymbol"/>
              <a:buAutoNum type="arabicPeriod"/>
              <a:tabLst>
                <a:tab algn="l" pos="355680"/>
              </a:tabLst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This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is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actually</a:t>
            </a:r>
            <a:r>
              <a:rPr b="0" lang="en-IN" sz="1600" spc="-6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from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valdosta.edu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address,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so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first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have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to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ask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whether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or</a:t>
            </a:r>
            <a:r>
              <a:rPr b="0" lang="en-IN" sz="1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not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this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is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from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someone</a:t>
            </a:r>
            <a:r>
              <a:rPr b="0" lang="en-IN" sz="1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know</a:t>
            </a:r>
            <a:r>
              <a:rPr b="0" lang="en-IN" sz="1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or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someone</a:t>
            </a:r>
            <a:r>
              <a:rPr b="0" lang="en-IN" sz="16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that</a:t>
            </a:r>
            <a:r>
              <a:rPr b="0" lang="en-IN" sz="16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would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be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emailing</a:t>
            </a:r>
            <a:r>
              <a:rPr b="0" lang="en-IN" sz="1600" spc="-7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about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your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email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account.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Remember</a:t>
            </a:r>
            <a:r>
              <a:rPr b="0" lang="en-IN" sz="1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that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only</a:t>
            </a:r>
            <a:r>
              <a:rPr b="1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members</a:t>
            </a:r>
            <a:r>
              <a:rPr b="1" lang="en-IN" sz="1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of</a:t>
            </a:r>
            <a:r>
              <a:rPr b="1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pc="-6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I.T.</a:t>
            </a:r>
            <a:r>
              <a:rPr b="1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will</a:t>
            </a:r>
            <a:r>
              <a:rPr b="1" lang="en-IN" sz="16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email</a:t>
            </a:r>
            <a:r>
              <a:rPr b="1" lang="en-IN" sz="16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</a:t>
            </a:r>
            <a:r>
              <a:rPr b="1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about</a:t>
            </a:r>
            <a:r>
              <a:rPr b="1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your</a:t>
            </a:r>
            <a:r>
              <a:rPr b="1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accounts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4960" indent="-34236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  <a:tabLst>
                <a:tab algn="l" pos="354960"/>
              </a:tabLst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One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again,</a:t>
            </a:r>
            <a:r>
              <a:rPr b="0" lang="en-IN" sz="16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cybercriminals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will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use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subject</a:t>
            </a:r>
            <a:r>
              <a:rPr b="0" lang="en-IN" sz="1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line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trying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to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get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your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attention,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often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using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all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caps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5680">
              <a:lnSpc>
                <a:spcPct val="100000"/>
              </a:lnSpc>
              <a:tabLst>
                <a:tab algn="l" pos="354960"/>
              </a:tabLst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and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multiple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exclamation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marks.</a:t>
            </a:r>
            <a:r>
              <a:rPr b="0" lang="en-IN" sz="1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1" lang="en-IN" sz="1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legitimate</a:t>
            </a:r>
            <a:r>
              <a:rPr b="1" lang="en-IN" sz="1600" spc="-6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email</a:t>
            </a:r>
            <a:r>
              <a:rPr b="1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from</a:t>
            </a:r>
            <a:r>
              <a:rPr b="1" lang="en-IN" sz="16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pc="-6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I.T.</a:t>
            </a:r>
            <a:r>
              <a:rPr b="1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will</a:t>
            </a:r>
            <a:r>
              <a:rPr b="1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not</a:t>
            </a:r>
            <a:r>
              <a:rPr b="1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do</a:t>
            </a:r>
            <a:r>
              <a:rPr b="1" lang="en-IN" sz="1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this.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5680" indent="-343080">
              <a:lnSpc>
                <a:spcPct val="100000"/>
              </a:lnSpc>
              <a:buClr>
                <a:srgbClr val="000000"/>
              </a:buClr>
              <a:buFont typeface="OpenSymbol"/>
              <a:buAutoNum type="arabicPeriod" startAt="3"/>
              <a:tabLst>
                <a:tab algn="l" pos="355680"/>
              </a:tabLst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To: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and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Cc: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lines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are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not</a:t>
            </a:r>
            <a:r>
              <a:rPr b="0" lang="en-IN" sz="1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shown so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that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 can’t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tell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this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is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mass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email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targeting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multiple individuals.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5680" indent="-343080">
              <a:lnSpc>
                <a:spcPct val="100000"/>
              </a:lnSpc>
              <a:buClr>
                <a:srgbClr val="000000"/>
              </a:buClr>
              <a:buFont typeface="OpenSymbol"/>
              <a:buAutoNum type="arabicPeriod" startAt="3"/>
              <a:tabLst>
                <a:tab algn="l" pos="355680"/>
              </a:tabLst>
            </a:pP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Hovering</a:t>
            </a:r>
            <a:r>
              <a:rPr b="1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your</a:t>
            </a:r>
            <a:r>
              <a:rPr b="1" lang="en-IN" sz="1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mouse</a:t>
            </a:r>
            <a:r>
              <a:rPr b="1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over</a:t>
            </a:r>
            <a:r>
              <a:rPr b="1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b="1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link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,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can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see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that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this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is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not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legitimate</a:t>
            </a:r>
            <a:r>
              <a:rPr b="0" lang="en-IN" sz="1600" spc="-6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valdosta.edu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link,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but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external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one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designed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to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steal</a:t>
            </a:r>
            <a:r>
              <a:rPr b="0" lang="en-IN" sz="1600" spc="-6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your</a:t>
            </a:r>
            <a:r>
              <a:rPr b="0" lang="en-IN" sz="1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information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or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install</a:t>
            </a:r>
            <a:r>
              <a:rPr b="0" lang="en-IN" sz="1600" spc="-6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malicious</a:t>
            </a:r>
            <a:r>
              <a:rPr b="0" lang="en-IN" sz="16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software.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4960" indent="-342360">
              <a:lnSpc>
                <a:spcPct val="100000"/>
              </a:lnSpc>
              <a:buClr>
                <a:srgbClr val="000000"/>
              </a:buClr>
              <a:buFont typeface="OpenSymbol"/>
              <a:buAutoNum type="arabicPeriod" startAt="3"/>
              <a:tabLst>
                <a:tab algn="l" pos="354960"/>
              </a:tabLst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signature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often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will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end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in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generic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sign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off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as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to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not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arouse</a:t>
            </a:r>
            <a:r>
              <a:rPr b="0" lang="en-IN" sz="1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suspicion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as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to</a:t>
            </a:r>
            <a:r>
              <a:rPr b="0" lang="en-IN" sz="1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sender.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0" y="144000"/>
            <a:ext cx="1619640" cy="1439640"/>
          </a:xfrm>
          <a:custGeom>
            <a:avLst/>
            <a:gdLst>
              <a:gd name="textAreaLeft" fmla="*/ 0 w 1619640"/>
              <a:gd name="textAreaRight" fmla="*/ 1620000 w 1619640"/>
              <a:gd name="textAreaTop" fmla="*/ 0 h 1439640"/>
              <a:gd name="textAreaBottom" fmla="*/ 1440000 h 1439640"/>
            </a:gdLst>
            <a:ahLst/>
            <a:cxnLst/>
            <a:rect l="textAreaLeft" t="textAreaTop" r="textAreaRight" b="textAreaBottom"/>
            <a:pathLst>
              <a:path w="4500" h="4000">
                <a:moveTo>
                  <a:pt x="0" y="4000"/>
                </a:moveTo>
                <a:cubicBezTo>
                  <a:pt x="0" y="2667"/>
                  <a:pt x="0" y="1333"/>
                  <a:pt x="0" y="0"/>
                </a:cubicBezTo>
                <a:cubicBezTo>
                  <a:pt x="1500" y="0"/>
                  <a:pt x="3000" y="0"/>
                  <a:pt x="4500" y="0"/>
                </a:cubicBezTo>
                <a:cubicBezTo>
                  <a:pt x="4500" y="1333"/>
                  <a:pt x="4500" y="2667"/>
                  <a:pt x="4500" y="4000"/>
                </a:cubicBezTo>
                <a:cubicBezTo>
                  <a:pt x="3000" y="4000"/>
                  <a:pt x="1500" y="4000"/>
                  <a:pt x="0" y="4000"/>
                </a:cubicBez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1496880" y="594000"/>
            <a:ext cx="6149520" cy="802080"/>
          </a:xfrm>
          <a:prstGeom prst="rect">
            <a:avLst/>
          </a:prstGeom>
          <a:noFill/>
          <a:ln w="0">
            <a:noFill/>
          </a:ln>
        </p:spPr>
        <p:txBody>
          <a:bodyPr lIns="0" rIns="0" tIns="13320" bIns="0" anchor="t">
            <a:spAutoFit/>
          </a:bodyPr>
          <a:p>
            <a:pPr marL="12600" indent="0">
              <a:lnSpc>
                <a:spcPts val="3416"/>
              </a:lnSpc>
              <a:spcBef>
                <a:spcPts val="105"/>
              </a:spcBef>
              <a:buNone/>
              <a:tabLst>
                <a:tab algn="l" pos="0"/>
              </a:tabLst>
            </a:pPr>
            <a:r>
              <a:rPr b="0" lang="en-IN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 Examples</a:t>
            </a:r>
            <a:r>
              <a:rPr b="0" lang="en-IN" sz="3200" spc="-9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of</a:t>
            </a:r>
            <a:r>
              <a:rPr b="0" lang="en-IN" sz="3200" spc="-96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Phishing</a:t>
            </a:r>
            <a:r>
              <a:rPr b="0" lang="en-IN" sz="3200" spc="-65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3200" spc="-1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Attacks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26200" indent="0">
              <a:lnSpc>
                <a:spcPts val="2455"/>
              </a:lnSpc>
              <a:buNone/>
              <a:tabLst>
                <a:tab algn="l" pos="0"/>
              </a:tabLst>
            </a:pPr>
            <a:r>
              <a:rPr b="0" lang="en-IN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       Link</a:t>
            </a:r>
            <a:r>
              <a:rPr b="0" lang="en-IN" sz="2400" spc="-4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400" spc="-1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manipulation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7" name="object 3" descr=""/>
          <p:cNvPicPr/>
          <p:nvPr/>
        </p:nvPicPr>
        <p:blipFill>
          <a:blip r:embed="rId1"/>
          <a:stretch/>
        </p:blipFill>
        <p:spPr>
          <a:xfrm>
            <a:off x="708480" y="1615320"/>
            <a:ext cx="7626960" cy="326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object 4"/>
          <p:cNvSpPr/>
          <p:nvPr/>
        </p:nvSpPr>
        <p:spPr>
          <a:xfrm>
            <a:off x="154800" y="4898880"/>
            <a:ext cx="8427600" cy="124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355680" indent="-343080">
              <a:lnSpc>
                <a:spcPct val="100000"/>
              </a:lnSpc>
              <a:spcBef>
                <a:spcPts val="96"/>
              </a:spcBef>
              <a:buClr>
                <a:srgbClr val="000000"/>
              </a:buClr>
              <a:buFont typeface="OpenSymbol"/>
              <a:buAutoNum type="arabicPeriod"/>
              <a:tabLst>
                <a:tab algn="l" pos="355680"/>
              </a:tabLst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sender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is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not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valid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valdosta.edu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address,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but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rather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@pugmarks.com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address.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name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is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also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generic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“Admin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Team”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which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does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not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match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up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with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email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address.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4960" indent="-34236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  <a:tabLst>
                <a:tab algn="l" pos="354960"/>
              </a:tabLst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subject</a:t>
            </a:r>
            <a:r>
              <a:rPr b="0" lang="en-IN" sz="1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line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is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in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all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capitals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and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using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multiple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exclamation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marks</a:t>
            </a:r>
            <a:r>
              <a:rPr b="0" lang="en-IN" sz="1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trying</a:t>
            </a:r>
            <a:r>
              <a:rPr b="0" lang="en-IN" sz="1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to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get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your</a:t>
            </a:r>
            <a:r>
              <a:rPr b="0" lang="en-IN" sz="16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attention.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5680" indent="-34308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  <a:tabLst>
                <a:tab algn="l" pos="355680"/>
              </a:tabLst>
            </a:pP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Hovering</a:t>
            </a:r>
            <a:r>
              <a:rPr b="1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your</a:t>
            </a:r>
            <a:r>
              <a:rPr b="1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mouse</a:t>
            </a:r>
            <a:r>
              <a:rPr b="1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over</a:t>
            </a:r>
            <a:r>
              <a:rPr b="1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b="1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link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,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</a:t>
            </a:r>
            <a:r>
              <a:rPr b="0" lang="en-IN" sz="1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can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see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that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this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is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not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valid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valdosta.edu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address,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but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rather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external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site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trying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to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steal</a:t>
            </a:r>
            <a:r>
              <a:rPr b="0" lang="en-IN" sz="1600" spc="-6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your</a:t>
            </a:r>
            <a:r>
              <a:rPr b="0" lang="en-IN" sz="1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credentials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or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install</a:t>
            </a:r>
            <a:r>
              <a:rPr b="0" lang="en-IN" sz="1600" spc="-7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malicious</a:t>
            </a:r>
            <a:r>
              <a:rPr b="0" lang="en-IN" sz="1600" spc="-6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software.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0" y="144000"/>
            <a:ext cx="1619640" cy="1439640"/>
          </a:xfrm>
          <a:custGeom>
            <a:avLst/>
            <a:gdLst>
              <a:gd name="textAreaLeft" fmla="*/ 0 w 1619640"/>
              <a:gd name="textAreaRight" fmla="*/ 1620000 w 1619640"/>
              <a:gd name="textAreaTop" fmla="*/ 0 h 1439640"/>
              <a:gd name="textAreaBottom" fmla="*/ 1440000 h 1439640"/>
            </a:gdLst>
            <a:ahLst/>
            <a:cxnLst/>
            <a:rect l="textAreaLeft" t="textAreaTop" r="textAreaRight" b="textAreaBottom"/>
            <a:pathLst>
              <a:path w="4500" h="4000">
                <a:moveTo>
                  <a:pt x="0" y="4000"/>
                </a:moveTo>
                <a:cubicBezTo>
                  <a:pt x="0" y="2667"/>
                  <a:pt x="0" y="1333"/>
                  <a:pt x="0" y="0"/>
                </a:cubicBezTo>
                <a:cubicBezTo>
                  <a:pt x="1500" y="0"/>
                  <a:pt x="3000" y="0"/>
                  <a:pt x="4500" y="0"/>
                </a:cubicBezTo>
                <a:cubicBezTo>
                  <a:pt x="4500" y="1333"/>
                  <a:pt x="4500" y="2667"/>
                  <a:pt x="4500" y="4000"/>
                </a:cubicBezTo>
                <a:cubicBezTo>
                  <a:pt x="3000" y="4000"/>
                  <a:pt x="1500" y="4000"/>
                  <a:pt x="0" y="4000"/>
                </a:cubicBez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1496880" y="594000"/>
            <a:ext cx="6149520" cy="802080"/>
          </a:xfrm>
          <a:prstGeom prst="rect">
            <a:avLst/>
          </a:prstGeom>
          <a:noFill/>
          <a:ln w="0">
            <a:noFill/>
          </a:ln>
        </p:spPr>
        <p:txBody>
          <a:bodyPr lIns="0" rIns="0" tIns="13320" bIns="0" anchor="t">
            <a:spAutoFit/>
          </a:bodyPr>
          <a:p>
            <a:pPr marL="12600" indent="0">
              <a:lnSpc>
                <a:spcPts val="3416"/>
              </a:lnSpc>
              <a:spcBef>
                <a:spcPts val="105"/>
              </a:spcBef>
              <a:buNone/>
              <a:tabLst>
                <a:tab algn="l" pos="0"/>
              </a:tabLst>
            </a:pPr>
            <a:r>
              <a:rPr b="0" lang="en-IN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 Examples</a:t>
            </a:r>
            <a:r>
              <a:rPr b="0" lang="en-IN" sz="3200" spc="-9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of</a:t>
            </a:r>
            <a:r>
              <a:rPr b="0" lang="en-IN" sz="3200" spc="-96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Phishing</a:t>
            </a:r>
            <a:r>
              <a:rPr b="0" lang="en-IN" sz="3200" spc="-65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3200" spc="-1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Attacks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26200" indent="0">
              <a:lnSpc>
                <a:spcPts val="2455"/>
              </a:lnSpc>
              <a:buNone/>
              <a:tabLst>
                <a:tab algn="l" pos="0"/>
              </a:tabLst>
            </a:pPr>
            <a:r>
              <a:rPr b="0" lang="en-IN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       Link</a:t>
            </a:r>
            <a:r>
              <a:rPr b="0" lang="en-IN" sz="2400" spc="-4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400" spc="-1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manipulation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1" name="object 3"/>
          <p:cNvGrpSpPr/>
          <p:nvPr/>
        </p:nvGrpSpPr>
        <p:grpSpPr>
          <a:xfrm>
            <a:off x="0" y="1600200"/>
            <a:ext cx="9143280" cy="5074200"/>
            <a:chOff x="0" y="1600200"/>
            <a:chExt cx="9143280" cy="5074200"/>
          </a:xfrm>
        </p:grpSpPr>
        <p:pic>
          <p:nvPicPr>
            <p:cNvPr id="82" name="object 4" descr=""/>
            <p:cNvPicPr/>
            <p:nvPr/>
          </p:nvPicPr>
          <p:blipFill>
            <a:blip r:embed="rId1"/>
            <a:stretch/>
          </p:blipFill>
          <p:spPr>
            <a:xfrm>
              <a:off x="958680" y="1600200"/>
              <a:ext cx="7346520" cy="40302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83" name="object 5"/>
            <p:cNvSpPr/>
            <p:nvPr/>
          </p:nvSpPr>
          <p:spPr>
            <a:xfrm>
              <a:off x="0" y="5105520"/>
              <a:ext cx="9143280" cy="1568880"/>
            </a:xfrm>
            <a:custGeom>
              <a:avLst/>
              <a:gdLst>
                <a:gd name="textAreaLeft" fmla="*/ 0 w 9143280"/>
                <a:gd name="textAreaRight" fmla="*/ 9144000 w 9143280"/>
                <a:gd name="textAreaTop" fmla="*/ 0 h 1568880"/>
                <a:gd name="textAreaBottom" fmla="*/ 1569600 h 1568880"/>
              </a:gdLst>
              <a:ahLst/>
              <a:cxnLst/>
              <a:rect l="textAreaLeft" t="textAreaTop" r="textAreaRight" b="textAreaBottom"/>
              <a:pathLst>
                <a:path w="9144000" h="1569720">
                  <a:moveTo>
                    <a:pt x="9144000" y="0"/>
                  </a:moveTo>
                  <a:lnTo>
                    <a:pt x="0" y="0"/>
                  </a:lnTo>
                  <a:lnTo>
                    <a:pt x="0" y="1569720"/>
                  </a:lnTo>
                  <a:lnTo>
                    <a:pt x="9144000" y="156972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4" name="object 6"/>
          <p:cNvSpPr/>
          <p:nvPr/>
        </p:nvSpPr>
        <p:spPr>
          <a:xfrm>
            <a:off x="78840" y="5127480"/>
            <a:ext cx="8964360" cy="148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355680" indent="-343080">
              <a:lnSpc>
                <a:spcPct val="100000"/>
              </a:lnSpc>
              <a:spcBef>
                <a:spcPts val="96"/>
              </a:spcBef>
              <a:buClr>
                <a:srgbClr val="000000"/>
              </a:buClr>
              <a:buFont typeface="OpenSymbol"/>
              <a:buAutoNum type="arabicPeriod"/>
              <a:tabLst>
                <a:tab algn="l" pos="355680"/>
              </a:tabLst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This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is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common</a:t>
            </a:r>
            <a:r>
              <a:rPr b="0" lang="en-IN" sz="16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phishing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email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and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looks</a:t>
            </a:r>
            <a:r>
              <a:rPr b="0" lang="en-IN" sz="16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completely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legit,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with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name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of</a:t>
            </a:r>
            <a:r>
              <a:rPr b="0" lang="en-IN" sz="1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“Verizon</a:t>
            </a:r>
            <a:r>
              <a:rPr b="0" lang="en-IN" sz="1600" spc="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Wireless”,</a:t>
            </a:r>
            <a:r>
              <a:rPr b="0" lang="en-IN" sz="1600" spc="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but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if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look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at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actual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email,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it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is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@tin.com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address</a:t>
            </a:r>
            <a:r>
              <a:rPr b="0" lang="en-IN" sz="1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rather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than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@verizon.com</a:t>
            </a:r>
            <a:r>
              <a:rPr b="0" lang="en-IN" sz="1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address.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4960" indent="-34236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  <a:tabLst>
                <a:tab algn="l" pos="354960"/>
              </a:tabLst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Once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again,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b="0" lang="en-IN" sz="1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To: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line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is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missing,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indicating</a:t>
            </a:r>
            <a:r>
              <a:rPr b="0" lang="en-IN" sz="1600" spc="-6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that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this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is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mass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email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that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they</a:t>
            </a:r>
            <a:r>
              <a:rPr b="0" lang="en-IN" sz="1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want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to</a:t>
            </a:r>
            <a:r>
              <a:rPr b="0" lang="en-IN" sz="1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avoid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seeing.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5680" indent="-34308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  <a:tabLst>
                <a:tab algn="l" pos="355680"/>
              </a:tabLst>
            </a:pP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Hovering</a:t>
            </a:r>
            <a:r>
              <a:rPr b="1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your</a:t>
            </a:r>
            <a:r>
              <a:rPr b="1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mouse</a:t>
            </a:r>
            <a:r>
              <a:rPr b="1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over</a:t>
            </a:r>
            <a:r>
              <a:rPr b="1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b="1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link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,</a:t>
            </a:r>
            <a:r>
              <a:rPr b="0" lang="en-IN" sz="16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can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see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that</a:t>
            </a:r>
            <a:r>
              <a:rPr b="0" lang="en-IN" sz="16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this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does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not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take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to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Verizon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website,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but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rather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to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en-IN" sz="16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random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website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which</a:t>
            </a:r>
            <a:r>
              <a:rPr b="0" lang="en-IN" sz="16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would</a:t>
            </a:r>
            <a:r>
              <a:rPr b="0" lang="en-IN" sz="16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more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than</a:t>
            </a:r>
            <a:r>
              <a:rPr b="0" lang="en-IN" sz="1600" spc="-6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likely</a:t>
            </a:r>
            <a:r>
              <a:rPr b="0" lang="en-IN" sz="1600" spc="-6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take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your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login</a:t>
            </a:r>
            <a:r>
              <a:rPr b="0" lang="en-IN" sz="1600" spc="-7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information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and</a:t>
            </a:r>
            <a:r>
              <a:rPr b="0" lang="en-IN" sz="16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take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over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your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account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to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take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your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billing</a:t>
            </a:r>
            <a:r>
              <a:rPr b="0" lang="en-IN" sz="1600" spc="-7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information.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0" y="144000"/>
            <a:ext cx="1619640" cy="1439640"/>
          </a:xfrm>
          <a:custGeom>
            <a:avLst/>
            <a:gdLst>
              <a:gd name="textAreaLeft" fmla="*/ 0 w 1619640"/>
              <a:gd name="textAreaRight" fmla="*/ 1620000 w 1619640"/>
              <a:gd name="textAreaTop" fmla="*/ 0 h 1439640"/>
              <a:gd name="textAreaBottom" fmla="*/ 1440000 h 1439640"/>
            </a:gdLst>
            <a:ahLst/>
            <a:cxnLst/>
            <a:rect l="textAreaLeft" t="textAreaTop" r="textAreaRight" b="textAreaBottom"/>
            <a:pathLst>
              <a:path w="4500" h="4000">
                <a:moveTo>
                  <a:pt x="0" y="4000"/>
                </a:moveTo>
                <a:cubicBezTo>
                  <a:pt x="0" y="2667"/>
                  <a:pt x="0" y="1333"/>
                  <a:pt x="0" y="0"/>
                </a:cubicBezTo>
                <a:cubicBezTo>
                  <a:pt x="1500" y="0"/>
                  <a:pt x="3000" y="0"/>
                  <a:pt x="4500" y="0"/>
                </a:cubicBezTo>
                <a:cubicBezTo>
                  <a:pt x="4500" y="1333"/>
                  <a:pt x="4500" y="2667"/>
                  <a:pt x="4500" y="4000"/>
                </a:cubicBezTo>
                <a:cubicBezTo>
                  <a:pt x="3000" y="4000"/>
                  <a:pt x="1500" y="4000"/>
                  <a:pt x="0" y="4000"/>
                </a:cubicBez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object 2"/>
          <p:cNvGrpSpPr/>
          <p:nvPr/>
        </p:nvGrpSpPr>
        <p:grpSpPr>
          <a:xfrm>
            <a:off x="152280" y="1653480"/>
            <a:ext cx="8838360" cy="5204160"/>
            <a:chOff x="152280" y="1653480"/>
            <a:chExt cx="8838360" cy="5204160"/>
          </a:xfrm>
        </p:grpSpPr>
        <p:pic>
          <p:nvPicPr>
            <p:cNvPr id="87" name="object 3" descr=""/>
            <p:cNvPicPr/>
            <p:nvPr/>
          </p:nvPicPr>
          <p:blipFill>
            <a:blip r:embed="rId1"/>
            <a:stretch/>
          </p:blipFill>
          <p:spPr>
            <a:xfrm>
              <a:off x="545760" y="1653480"/>
              <a:ext cx="3547080" cy="32986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88" name="object 4"/>
            <p:cNvSpPr/>
            <p:nvPr/>
          </p:nvSpPr>
          <p:spPr>
            <a:xfrm>
              <a:off x="152280" y="4687920"/>
              <a:ext cx="8838360" cy="2169720"/>
            </a:xfrm>
            <a:custGeom>
              <a:avLst/>
              <a:gdLst>
                <a:gd name="textAreaLeft" fmla="*/ 0 w 8838360"/>
                <a:gd name="textAreaRight" fmla="*/ 8839080 w 8838360"/>
                <a:gd name="textAreaTop" fmla="*/ 0 h 2169720"/>
                <a:gd name="textAreaBottom" fmla="*/ 2170440 h 2169720"/>
              </a:gdLst>
              <a:ahLst/>
              <a:cxnLst/>
              <a:rect l="textAreaLeft" t="textAreaTop" r="textAreaRight" b="textAreaBottom"/>
              <a:pathLst>
                <a:path w="8839200" h="2170429">
                  <a:moveTo>
                    <a:pt x="8839200" y="0"/>
                  </a:moveTo>
                  <a:lnTo>
                    <a:pt x="0" y="0"/>
                  </a:lnTo>
                  <a:lnTo>
                    <a:pt x="0" y="2170176"/>
                  </a:lnTo>
                  <a:lnTo>
                    <a:pt x="8839200" y="2170176"/>
                  </a:lnTo>
                  <a:lnTo>
                    <a:pt x="883920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89" name="object 5" descr=""/>
          <p:cNvPicPr/>
          <p:nvPr/>
        </p:nvPicPr>
        <p:blipFill>
          <a:blip r:embed="rId2"/>
          <a:stretch/>
        </p:blipFill>
        <p:spPr>
          <a:xfrm>
            <a:off x="4495680" y="1828800"/>
            <a:ext cx="3533400" cy="1886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object 6"/>
          <p:cNvSpPr/>
          <p:nvPr/>
        </p:nvSpPr>
        <p:spPr>
          <a:xfrm>
            <a:off x="231120" y="4598640"/>
            <a:ext cx="8621280" cy="21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algn="ctr">
              <a:lnSpc>
                <a:spcPts val="1040"/>
              </a:lnSpc>
              <a:spcBef>
                <a:spcPts val="96"/>
              </a:spcBef>
            </a:pPr>
            <a:r>
              <a:rPr b="0" lang="en-IN" sz="10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1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ts val="1638"/>
              </a:lnSpc>
            </a:pP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b="0" lang="en-IN" sz="15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example</a:t>
            </a:r>
            <a:r>
              <a:rPr b="0" lang="en-IN" sz="15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on</a:t>
            </a:r>
            <a:r>
              <a:rPr b="0" lang="en-IN" sz="15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b="0" lang="en-IN" sz="15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left</a:t>
            </a:r>
            <a:r>
              <a:rPr b="0" lang="en-IN" sz="15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is</a:t>
            </a:r>
            <a:r>
              <a:rPr b="0" lang="en-IN" sz="15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en-IN" sz="15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targeted</a:t>
            </a:r>
            <a:r>
              <a:rPr b="0" lang="en-IN" sz="15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social</a:t>
            </a:r>
            <a:r>
              <a:rPr b="0" lang="en-IN" sz="15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engineering</a:t>
            </a:r>
            <a:r>
              <a:rPr b="0" lang="en-IN" sz="15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attack.</a:t>
            </a:r>
            <a:r>
              <a:rPr b="0" lang="en-IN" sz="15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Cybercriminals</a:t>
            </a:r>
            <a:r>
              <a:rPr b="0" lang="en-IN" sz="15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scan</a:t>
            </a:r>
            <a:r>
              <a:rPr b="0" lang="en-IN" sz="15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your</a:t>
            </a:r>
            <a:r>
              <a:rPr b="0" lang="en-IN" sz="15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profile</a:t>
            </a:r>
            <a:r>
              <a:rPr b="0" lang="en-IN" sz="15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for</a:t>
            </a:r>
            <a:r>
              <a:rPr b="0" lang="en-IN" sz="15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your</a:t>
            </a:r>
            <a:r>
              <a:rPr b="0" lang="en-IN" sz="15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likes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and</a:t>
            </a:r>
            <a:r>
              <a:rPr b="0" lang="en-IN" sz="15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then</a:t>
            </a:r>
            <a:r>
              <a:rPr b="0" lang="en-IN" sz="15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send</a:t>
            </a:r>
            <a:r>
              <a:rPr b="0" lang="en-IN" sz="15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</a:t>
            </a:r>
            <a:r>
              <a:rPr b="0" lang="en-IN" sz="15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en-IN" sz="15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crafted</a:t>
            </a:r>
            <a:r>
              <a:rPr b="0" lang="en-IN" sz="15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message</a:t>
            </a:r>
            <a:r>
              <a:rPr b="0" lang="en-IN" sz="15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over</a:t>
            </a:r>
            <a:r>
              <a:rPr b="0" lang="en-IN" sz="15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social</a:t>
            </a:r>
            <a:r>
              <a:rPr b="0" lang="en-IN" sz="15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media</a:t>
            </a:r>
            <a:r>
              <a:rPr b="0" lang="en-IN" sz="15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trying</a:t>
            </a:r>
            <a:r>
              <a:rPr b="0" lang="en-IN" sz="15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to</a:t>
            </a:r>
            <a:r>
              <a:rPr b="0" lang="en-IN" sz="15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trick</a:t>
            </a:r>
            <a:r>
              <a:rPr b="0" lang="en-IN" sz="15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</a:t>
            </a:r>
            <a:r>
              <a:rPr b="0" lang="en-IN" sz="15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into</a:t>
            </a:r>
            <a:r>
              <a:rPr b="0" lang="en-IN" sz="15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clicking</a:t>
            </a:r>
            <a:r>
              <a:rPr b="0" lang="en-IN" sz="15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b="0" lang="en-IN" sz="15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link,</a:t>
            </a:r>
            <a:r>
              <a:rPr b="0" lang="en-IN" sz="15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which</a:t>
            </a:r>
            <a:r>
              <a:rPr b="0" lang="en-IN" sz="15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would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then</a:t>
            </a:r>
            <a:r>
              <a:rPr b="0" lang="en-IN" sz="15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steal</a:t>
            </a:r>
            <a:r>
              <a:rPr b="0" lang="en-IN" sz="15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your</a:t>
            </a:r>
            <a:r>
              <a:rPr b="0" lang="en-IN" sz="1500" spc="-6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social</a:t>
            </a:r>
            <a:r>
              <a:rPr b="0" lang="en-IN" sz="15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media</a:t>
            </a:r>
            <a:r>
              <a:rPr b="0" lang="en-IN" sz="15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login</a:t>
            </a:r>
            <a:r>
              <a:rPr b="0" lang="en-IN" sz="15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and</a:t>
            </a:r>
            <a:r>
              <a:rPr b="0" lang="en-IN" sz="15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take</a:t>
            </a:r>
            <a:r>
              <a:rPr b="0" lang="en-IN" sz="15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over</a:t>
            </a:r>
            <a:r>
              <a:rPr b="0" lang="en-IN" sz="15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your</a:t>
            </a:r>
            <a:r>
              <a:rPr b="0" lang="en-IN" sz="1500" spc="-6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profile</a:t>
            </a:r>
            <a:r>
              <a:rPr b="0" lang="en-IN" sz="15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sending</a:t>
            </a:r>
            <a:r>
              <a:rPr b="0" lang="en-IN" sz="15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out</a:t>
            </a:r>
            <a:r>
              <a:rPr b="0" lang="en-IN" sz="15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more</a:t>
            </a:r>
            <a:r>
              <a:rPr b="0" lang="en-IN" sz="15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phishing</a:t>
            </a:r>
            <a:r>
              <a:rPr b="0" lang="en-IN" sz="15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attacks</a:t>
            </a:r>
            <a:r>
              <a:rPr b="0" lang="en-IN" sz="1500" spc="-6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to</a:t>
            </a:r>
            <a:r>
              <a:rPr b="0" lang="en-IN" sz="15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your </a:t>
            </a:r>
            <a:r>
              <a:rPr b="0" lang="en-IN" sz="15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friends/contact</a:t>
            </a:r>
            <a:r>
              <a:rPr b="0" lang="en-IN" sz="15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list.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b="0" lang="en-IN" sz="15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one</a:t>
            </a:r>
            <a:r>
              <a:rPr b="0" lang="en-IN" sz="15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on</a:t>
            </a:r>
            <a:r>
              <a:rPr b="0" lang="en-IN" sz="15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b="0" lang="en-IN" sz="15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right</a:t>
            </a:r>
            <a:r>
              <a:rPr b="0" lang="en-IN" sz="15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is</a:t>
            </a:r>
            <a:r>
              <a:rPr b="0" lang="en-IN" sz="15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</a:t>
            </a:r>
            <a:r>
              <a:rPr b="0" lang="en-IN" sz="15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example</a:t>
            </a:r>
            <a:r>
              <a:rPr b="0" lang="en-IN" sz="15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of</a:t>
            </a:r>
            <a:r>
              <a:rPr b="0" lang="en-IN" sz="15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en-IN" sz="15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mass</a:t>
            </a:r>
            <a:r>
              <a:rPr b="0" lang="en-IN" sz="15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phishing</a:t>
            </a:r>
            <a:r>
              <a:rPr b="0" lang="en-IN" sz="15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attack</a:t>
            </a:r>
            <a:r>
              <a:rPr b="0" lang="en-IN" sz="15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through</a:t>
            </a:r>
            <a:r>
              <a:rPr b="0" lang="en-IN" sz="15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social</a:t>
            </a:r>
            <a:r>
              <a:rPr b="0" lang="en-IN" sz="15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media.</a:t>
            </a:r>
            <a:r>
              <a:rPr b="0" lang="en-IN" sz="15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No</a:t>
            </a:r>
            <a:r>
              <a:rPr b="0" lang="en-IN" sz="15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doubt</a:t>
            </a:r>
            <a:r>
              <a:rPr b="0" lang="en-IN" sz="15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many</a:t>
            </a:r>
            <a:r>
              <a:rPr b="0" lang="en-IN" sz="15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of</a:t>
            </a:r>
            <a:r>
              <a:rPr b="0" lang="en-IN" sz="15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</a:t>
            </a:r>
            <a:r>
              <a:rPr b="0" lang="en-IN" sz="15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have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seen</a:t>
            </a:r>
            <a:r>
              <a:rPr b="0" lang="en-IN" sz="15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these</a:t>
            </a:r>
            <a:r>
              <a:rPr b="0" lang="en-IN" sz="15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in</a:t>
            </a:r>
            <a:r>
              <a:rPr b="0" lang="en-IN" sz="15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Facebook,</a:t>
            </a:r>
            <a:r>
              <a:rPr b="0" lang="en-IN" sz="15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from</a:t>
            </a:r>
            <a:r>
              <a:rPr b="0" lang="en-IN" sz="15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random</a:t>
            </a:r>
            <a:r>
              <a:rPr b="0" lang="en-IN" sz="15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people</a:t>
            </a:r>
            <a:r>
              <a:rPr b="0" lang="en-IN" sz="15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in</a:t>
            </a:r>
            <a:r>
              <a:rPr b="0" lang="en-IN" sz="15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messages,</a:t>
            </a:r>
            <a:r>
              <a:rPr b="0" lang="en-IN" sz="15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or</a:t>
            </a:r>
            <a:r>
              <a:rPr b="0" lang="en-IN" sz="15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from</a:t>
            </a:r>
            <a:r>
              <a:rPr b="0" lang="en-IN" sz="15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your</a:t>
            </a:r>
            <a:r>
              <a:rPr b="0" lang="en-IN" sz="15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friends</a:t>
            </a:r>
            <a:r>
              <a:rPr b="0" lang="en-IN" sz="15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through</a:t>
            </a:r>
            <a:r>
              <a:rPr b="0" lang="en-IN" sz="1500" spc="-7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their</a:t>
            </a:r>
            <a:r>
              <a:rPr b="0" lang="en-IN" sz="15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timelines.</a:t>
            </a:r>
            <a:r>
              <a:rPr b="0" lang="en-IN" sz="15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Upon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clicking</a:t>
            </a:r>
            <a:r>
              <a:rPr b="0" lang="en-IN" sz="15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b="0" lang="en-IN" sz="15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link,</a:t>
            </a:r>
            <a:r>
              <a:rPr b="0" lang="en-IN" sz="15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it</a:t>
            </a:r>
            <a:r>
              <a:rPr b="0" lang="en-IN" sz="15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would</a:t>
            </a:r>
            <a:r>
              <a:rPr b="0" lang="en-IN" sz="15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prompt</a:t>
            </a:r>
            <a:r>
              <a:rPr b="0" lang="en-IN" sz="15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</a:t>
            </a:r>
            <a:r>
              <a:rPr b="0" lang="en-IN" sz="15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to</a:t>
            </a:r>
            <a:r>
              <a:rPr b="0" lang="en-IN" sz="15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log</a:t>
            </a:r>
            <a:r>
              <a:rPr b="0" lang="en-IN" sz="15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in</a:t>
            </a:r>
            <a:r>
              <a:rPr b="0" lang="en-IN" sz="15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again,</a:t>
            </a:r>
            <a:r>
              <a:rPr b="0" lang="en-IN" sz="15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but</a:t>
            </a:r>
            <a:r>
              <a:rPr b="0" lang="en-IN" sz="15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this</a:t>
            </a:r>
            <a:r>
              <a:rPr b="0" lang="en-IN" sz="15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time</a:t>
            </a:r>
            <a:r>
              <a:rPr b="0" lang="en-IN" sz="15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to</a:t>
            </a:r>
            <a:r>
              <a:rPr b="0" lang="en-IN" sz="15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en-IN" sz="15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fake</a:t>
            </a:r>
            <a:r>
              <a:rPr b="0" lang="en-IN" sz="15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Facebook</a:t>
            </a:r>
            <a:r>
              <a:rPr b="0" lang="en-IN" sz="15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page,</a:t>
            </a:r>
            <a:r>
              <a:rPr b="0" lang="en-IN" sz="15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and</a:t>
            </a:r>
            <a:r>
              <a:rPr b="0" lang="en-IN" sz="15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steal</a:t>
            </a:r>
            <a:r>
              <a:rPr b="0" lang="en-IN" sz="15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your</a:t>
            </a:r>
            <a:r>
              <a:rPr b="0" lang="en-IN" sz="15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log</a:t>
            </a:r>
            <a:r>
              <a:rPr b="0" lang="en-IN" sz="15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in </a:t>
            </a:r>
            <a:r>
              <a:rPr b="0" lang="en-IN" sz="15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information</a:t>
            </a:r>
            <a:r>
              <a:rPr b="0" lang="en-IN" sz="15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and</a:t>
            </a:r>
            <a:r>
              <a:rPr b="0" lang="en-IN" sz="15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take</a:t>
            </a:r>
            <a:r>
              <a:rPr b="0" lang="en-IN" sz="15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over</a:t>
            </a:r>
            <a:r>
              <a:rPr b="0" lang="en-IN" sz="15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your</a:t>
            </a:r>
            <a:r>
              <a:rPr b="0" lang="en-IN" sz="15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profile</a:t>
            </a:r>
            <a:r>
              <a:rPr b="0" lang="en-IN" sz="15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sending</a:t>
            </a:r>
            <a:r>
              <a:rPr b="0" lang="en-IN" sz="15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out</a:t>
            </a:r>
            <a:r>
              <a:rPr b="0" lang="en-IN" sz="15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b="0" lang="en-IN" sz="15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same</a:t>
            </a:r>
            <a:r>
              <a:rPr b="0" lang="en-IN" sz="15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or</a:t>
            </a:r>
            <a:r>
              <a:rPr b="0" lang="en-IN" sz="15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another</a:t>
            </a:r>
            <a:r>
              <a:rPr b="0" lang="en-IN" sz="15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mass</a:t>
            </a:r>
            <a:r>
              <a:rPr b="0" lang="en-IN" sz="15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phishing</a:t>
            </a:r>
            <a:r>
              <a:rPr b="0" lang="en-IN" sz="15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attack</a:t>
            </a:r>
            <a:r>
              <a:rPr b="0" lang="en-IN" sz="15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to</a:t>
            </a:r>
            <a:r>
              <a:rPr b="0" lang="en-IN" sz="15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your</a:t>
            </a:r>
            <a:r>
              <a:rPr b="0" lang="en-IN" sz="15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friends</a:t>
            </a:r>
            <a:r>
              <a:rPr b="0" lang="en-IN" sz="1500" spc="499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and</a:t>
            </a:r>
            <a:r>
              <a:rPr b="0" lang="en-IN" sz="15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5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contacts.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1496880" y="594000"/>
            <a:ext cx="6149520" cy="802080"/>
          </a:xfrm>
          <a:prstGeom prst="rect">
            <a:avLst/>
          </a:prstGeom>
          <a:noFill/>
          <a:ln w="0">
            <a:noFill/>
          </a:ln>
        </p:spPr>
        <p:txBody>
          <a:bodyPr lIns="0" rIns="0" tIns="13320" bIns="0" anchor="t">
            <a:spAutoFit/>
          </a:bodyPr>
          <a:p>
            <a:pPr marL="12600" indent="0">
              <a:lnSpc>
                <a:spcPts val="3416"/>
              </a:lnSpc>
              <a:spcBef>
                <a:spcPts val="105"/>
              </a:spcBef>
              <a:buNone/>
              <a:tabLst>
                <a:tab algn="l" pos="0"/>
              </a:tabLst>
            </a:pPr>
            <a:r>
              <a:rPr b="0" lang="en-IN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 Examples</a:t>
            </a:r>
            <a:r>
              <a:rPr b="0" lang="en-IN" sz="3200" spc="-9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of</a:t>
            </a:r>
            <a:r>
              <a:rPr b="0" lang="en-IN" sz="3200" spc="-96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Phishing</a:t>
            </a:r>
            <a:r>
              <a:rPr b="0" lang="en-IN" sz="3200" spc="-65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3200" spc="-1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Attacks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30080" indent="0">
              <a:lnSpc>
                <a:spcPts val="2455"/>
              </a:lnSpc>
              <a:buNone/>
              <a:tabLst>
                <a:tab algn="l" pos="0"/>
              </a:tabLst>
            </a:pPr>
            <a:r>
              <a:rPr b="0" lang="en-IN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        Social</a:t>
            </a:r>
            <a:r>
              <a:rPr b="0" lang="en-IN" sz="2400" spc="-1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Engineering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0" y="144000"/>
            <a:ext cx="1619640" cy="1439640"/>
          </a:xfrm>
          <a:custGeom>
            <a:avLst/>
            <a:gdLst>
              <a:gd name="textAreaLeft" fmla="*/ 0 w 1619640"/>
              <a:gd name="textAreaRight" fmla="*/ 1620000 w 1619640"/>
              <a:gd name="textAreaTop" fmla="*/ 0 h 1439640"/>
              <a:gd name="textAreaBottom" fmla="*/ 1440000 h 1439640"/>
            </a:gdLst>
            <a:ahLst/>
            <a:cxnLst/>
            <a:rect l="textAreaLeft" t="textAreaTop" r="textAreaRight" b="textAreaBottom"/>
            <a:pathLst>
              <a:path w="4500" h="4000">
                <a:moveTo>
                  <a:pt x="0" y="4000"/>
                </a:moveTo>
                <a:cubicBezTo>
                  <a:pt x="0" y="2667"/>
                  <a:pt x="0" y="1333"/>
                  <a:pt x="0" y="0"/>
                </a:cubicBezTo>
                <a:cubicBezTo>
                  <a:pt x="1500" y="0"/>
                  <a:pt x="3000" y="0"/>
                  <a:pt x="4500" y="0"/>
                </a:cubicBezTo>
                <a:cubicBezTo>
                  <a:pt x="4500" y="1333"/>
                  <a:pt x="4500" y="2667"/>
                  <a:pt x="4500" y="4000"/>
                </a:cubicBezTo>
                <a:cubicBezTo>
                  <a:pt x="3000" y="4000"/>
                  <a:pt x="1500" y="4000"/>
                  <a:pt x="0" y="4000"/>
                </a:cubicBez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945360" y="1466280"/>
            <a:ext cx="7406640" cy="45252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spAutoFit/>
          </a:bodyPr>
          <a:p>
            <a:pPr marL="12600" indent="0">
              <a:lnSpc>
                <a:spcPct val="100000"/>
              </a:lnSpc>
              <a:spcBef>
                <a:spcPts val="96"/>
              </a:spcBef>
              <a:buNone/>
              <a:tabLst>
                <a:tab algn="l" pos="0"/>
              </a:tabLst>
            </a:pP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Can</a:t>
            </a:r>
            <a:r>
              <a:rPr b="0" lang="en-IN" sz="2800" spc="-54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you</a:t>
            </a:r>
            <a:r>
              <a:rPr b="0" lang="en-IN" sz="2800" spc="-3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spot</a:t>
            </a:r>
            <a:r>
              <a:rPr b="0" lang="en-IN" sz="2800" spc="-26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the</a:t>
            </a:r>
            <a:r>
              <a:rPr b="0" lang="en-IN" sz="2800" spc="-5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800" spc="-2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tell-</a:t>
            </a: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tale</a:t>
            </a:r>
            <a:r>
              <a:rPr b="0" lang="en-IN" sz="2800" spc="-45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signs</a:t>
            </a:r>
            <a:r>
              <a:rPr b="0" lang="en-IN" sz="2800" spc="-34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of</a:t>
            </a:r>
            <a:r>
              <a:rPr b="0" lang="en-IN" sz="2800" spc="-5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b="0" lang="en-IN" sz="2800" spc="-4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phishing</a:t>
            </a:r>
            <a:r>
              <a:rPr b="0" lang="en-IN" sz="2800" spc="-6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800" spc="-1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email?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4" name="object 3" descr=""/>
          <p:cNvPicPr/>
          <p:nvPr/>
        </p:nvPicPr>
        <p:blipFill>
          <a:blip r:embed="rId1"/>
          <a:stretch/>
        </p:blipFill>
        <p:spPr>
          <a:xfrm>
            <a:off x="228600" y="2125800"/>
            <a:ext cx="8457480" cy="3054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"/>
          <p:cNvSpPr/>
          <p:nvPr/>
        </p:nvSpPr>
        <p:spPr>
          <a:xfrm>
            <a:off x="0" y="144000"/>
            <a:ext cx="1619640" cy="1439640"/>
          </a:xfrm>
          <a:custGeom>
            <a:avLst/>
            <a:gdLst>
              <a:gd name="textAreaLeft" fmla="*/ 0 w 1619640"/>
              <a:gd name="textAreaRight" fmla="*/ 1620000 w 1619640"/>
              <a:gd name="textAreaTop" fmla="*/ 0 h 1439640"/>
              <a:gd name="textAreaBottom" fmla="*/ 1440000 h 1439640"/>
            </a:gdLst>
            <a:ahLst/>
            <a:cxnLst/>
            <a:rect l="textAreaLeft" t="textAreaTop" r="textAreaRight" b="textAreaBottom"/>
            <a:pathLst>
              <a:path w="4500" h="4000">
                <a:moveTo>
                  <a:pt x="0" y="4000"/>
                </a:moveTo>
                <a:cubicBezTo>
                  <a:pt x="0" y="2667"/>
                  <a:pt x="0" y="1333"/>
                  <a:pt x="0" y="0"/>
                </a:cubicBezTo>
                <a:cubicBezTo>
                  <a:pt x="1500" y="0"/>
                  <a:pt x="3000" y="0"/>
                  <a:pt x="4500" y="0"/>
                </a:cubicBezTo>
                <a:cubicBezTo>
                  <a:pt x="4500" y="1333"/>
                  <a:pt x="4500" y="2667"/>
                  <a:pt x="4500" y="4000"/>
                </a:cubicBezTo>
                <a:cubicBezTo>
                  <a:pt x="3000" y="4000"/>
                  <a:pt x="1500" y="4000"/>
                  <a:pt x="0" y="4000"/>
                </a:cubicBez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945360" y="1466280"/>
            <a:ext cx="7406640" cy="45252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spAutoFit/>
          </a:bodyPr>
          <a:p>
            <a:pPr marL="12600" indent="0">
              <a:lnSpc>
                <a:spcPct val="100000"/>
              </a:lnSpc>
              <a:spcBef>
                <a:spcPts val="96"/>
              </a:spcBef>
              <a:buNone/>
              <a:tabLst>
                <a:tab algn="l" pos="0"/>
              </a:tabLst>
            </a:pP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Can</a:t>
            </a:r>
            <a:r>
              <a:rPr b="0" lang="en-IN" sz="2800" spc="-54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you</a:t>
            </a:r>
            <a:r>
              <a:rPr b="0" lang="en-IN" sz="2800" spc="-3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spot</a:t>
            </a:r>
            <a:r>
              <a:rPr b="0" lang="en-IN" sz="2800" spc="-26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the</a:t>
            </a:r>
            <a:r>
              <a:rPr b="0" lang="en-IN" sz="2800" spc="-5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800" spc="-2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tell-</a:t>
            </a: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tale</a:t>
            </a:r>
            <a:r>
              <a:rPr b="0" lang="en-IN" sz="2800" spc="-45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signs</a:t>
            </a:r>
            <a:r>
              <a:rPr b="0" lang="en-IN" sz="2800" spc="-34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of</a:t>
            </a:r>
            <a:r>
              <a:rPr b="0" lang="en-IN" sz="2800" spc="-5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b="0" lang="en-IN" sz="2800" spc="-4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phishing</a:t>
            </a:r>
            <a:r>
              <a:rPr b="0" lang="en-IN" sz="2800" spc="-6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800" spc="-1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email?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7" name="object 3"/>
          <p:cNvGrpSpPr/>
          <p:nvPr/>
        </p:nvGrpSpPr>
        <p:grpSpPr>
          <a:xfrm>
            <a:off x="91440" y="1905120"/>
            <a:ext cx="8975520" cy="4952160"/>
            <a:chOff x="91440" y="1905120"/>
            <a:chExt cx="8975520" cy="4952160"/>
          </a:xfrm>
        </p:grpSpPr>
        <p:pic>
          <p:nvPicPr>
            <p:cNvPr id="98" name="object 4" descr=""/>
            <p:cNvPicPr/>
            <p:nvPr/>
          </p:nvPicPr>
          <p:blipFill>
            <a:blip r:embed="rId1"/>
            <a:stretch/>
          </p:blipFill>
          <p:spPr>
            <a:xfrm>
              <a:off x="91440" y="1905120"/>
              <a:ext cx="8975520" cy="31996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99" name="object 5"/>
            <p:cNvSpPr/>
            <p:nvPr/>
          </p:nvSpPr>
          <p:spPr>
            <a:xfrm>
              <a:off x="91440" y="5041440"/>
              <a:ext cx="8975520" cy="1815840"/>
            </a:xfrm>
            <a:custGeom>
              <a:avLst/>
              <a:gdLst>
                <a:gd name="textAreaLeft" fmla="*/ 0 w 8975520"/>
                <a:gd name="textAreaRight" fmla="*/ 8976240 w 8975520"/>
                <a:gd name="textAreaTop" fmla="*/ 0 h 1815840"/>
                <a:gd name="textAreaBottom" fmla="*/ 1816560 h 1815840"/>
              </a:gdLst>
              <a:ahLst/>
              <a:cxnLst/>
              <a:rect l="textAreaLeft" t="textAreaTop" r="textAreaRight" b="textAreaBottom"/>
              <a:pathLst>
                <a:path w="8976360" h="1816734">
                  <a:moveTo>
                    <a:pt x="8976360" y="0"/>
                  </a:moveTo>
                  <a:lnTo>
                    <a:pt x="0" y="0"/>
                  </a:lnTo>
                  <a:lnTo>
                    <a:pt x="0" y="1816608"/>
                  </a:lnTo>
                  <a:lnTo>
                    <a:pt x="8976360" y="1816608"/>
                  </a:lnTo>
                  <a:lnTo>
                    <a:pt x="897636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0" name="object 6"/>
          <p:cNvSpPr/>
          <p:nvPr/>
        </p:nvSpPr>
        <p:spPr>
          <a:xfrm>
            <a:off x="169920" y="5064480"/>
            <a:ext cx="8627040" cy="173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355680" indent="-343080">
              <a:lnSpc>
                <a:spcPct val="100000"/>
              </a:lnSpc>
              <a:spcBef>
                <a:spcPts val="96"/>
              </a:spcBef>
              <a:buClr>
                <a:srgbClr val="000000"/>
              </a:buClr>
              <a:buFont typeface="OpenSymbol"/>
              <a:buAutoNum type="arabicPeriod"/>
              <a:tabLst>
                <a:tab algn="l" pos="355680"/>
              </a:tabLst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email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address</a:t>
            </a:r>
            <a:r>
              <a:rPr b="0" lang="en-IN" sz="1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is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not</a:t>
            </a:r>
            <a:r>
              <a:rPr b="0" lang="en-IN" sz="1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valid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valdosta.edu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address,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but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rather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Vaderbilt.edu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address.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This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is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important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because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only</a:t>
            </a:r>
            <a:r>
              <a:rPr b="1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1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valid</a:t>
            </a:r>
            <a:r>
              <a:rPr b="1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valdosta.edu</a:t>
            </a:r>
            <a:r>
              <a:rPr b="1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address</a:t>
            </a:r>
            <a:r>
              <a:rPr b="1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will</a:t>
            </a:r>
            <a:r>
              <a:rPr b="1" lang="en-IN" sz="16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email</a:t>
            </a:r>
            <a:r>
              <a:rPr b="1" lang="en-IN" sz="16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</a:t>
            </a:r>
            <a:r>
              <a:rPr b="1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about</a:t>
            </a:r>
            <a:r>
              <a:rPr b="1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anything</a:t>
            </a:r>
            <a:r>
              <a:rPr b="1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email</a:t>
            </a:r>
            <a:r>
              <a:rPr b="1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or</a:t>
            </a:r>
            <a:r>
              <a:rPr b="1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help 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desk</a:t>
            </a:r>
            <a:r>
              <a:rPr b="1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related.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4960" indent="-34236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  <a:tabLst>
                <a:tab algn="l" pos="354960"/>
              </a:tabLst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To: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and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Cc: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are</a:t>
            </a:r>
            <a:r>
              <a:rPr b="0" lang="en-IN" sz="16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missing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so</a:t>
            </a:r>
            <a:r>
              <a:rPr b="0" lang="en-IN" sz="16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that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 can</a:t>
            </a:r>
            <a:r>
              <a:rPr b="0" lang="en-IN" sz="1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tell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this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is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mass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targeted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email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phishing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attack.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4960" indent="-34236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  <a:tabLst>
                <a:tab algn="l" pos="354960"/>
              </a:tabLst>
            </a:pP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Hovering</a:t>
            </a:r>
            <a:r>
              <a:rPr b="1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your</a:t>
            </a:r>
            <a:r>
              <a:rPr b="1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mouse</a:t>
            </a:r>
            <a:r>
              <a:rPr b="1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over</a:t>
            </a:r>
            <a:r>
              <a:rPr b="1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b="1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link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,</a:t>
            </a:r>
            <a:r>
              <a:rPr b="0" lang="en-IN" sz="16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</a:t>
            </a:r>
            <a:r>
              <a:rPr b="0" lang="en-IN" sz="1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can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see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that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this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is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not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valdosta.edu</a:t>
            </a:r>
            <a:r>
              <a:rPr b="0" lang="en-IN" sz="16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address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but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rather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an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5680">
              <a:lnSpc>
                <a:spcPct val="100000"/>
              </a:lnSpc>
              <a:tabLst>
                <a:tab algn="l" pos="354960"/>
              </a:tabLst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external</a:t>
            </a:r>
            <a:r>
              <a:rPr b="0" lang="en-IN" sz="16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address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trying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to</a:t>
            </a:r>
            <a:r>
              <a:rPr b="0" lang="en-IN" sz="16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steal</a:t>
            </a:r>
            <a:r>
              <a:rPr b="0" lang="en-IN" sz="1600" spc="-6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your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credentials.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4960" indent="-342360">
              <a:lnSpc>
                <a:spcPct val="100000"/>
              </a:lnSpc>
              <a:buClr>
                <a:srgbClr val="000000"/>
              </a:buClr>
              <a:buFont typeface="OpenSymbol"/>
              <a:buAutoNum type="arabicPeriod" startAt="4"/>
              <a:tabLst>
                <a:tab algn="l" pos="354960"/>
              </a:tabLst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signature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is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generic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as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to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not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alert</a:t>
            </a:r>
            <a:r>
              <a:rPr b="0" lang="en-IN" sz="1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to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any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phishing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attempt.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0" y="144000"/>
            <a:ext cx="1619640" cy="1439640"/>
          </a:xfrm>
          <a:custGeom>
            <a:avLst/>
            <a:gdLst>
              <a:gd name="textAreaLeft" fmla="*/ 0 w 1619640"/>
              <a:gd name="textAreaRight" fmla="*/ 1620000 w 1619640"/>
              <a:gd name="textAreaTop" fmla="*/ 0 h 1439640"/>
              <a:gd name="textAreaBottom" fmla="*/ 1440000 h 1439640"/>
            </a:gdLst>
            <a:ahLst/>
            <a:cxnLst/>
            <a:rect l="textAreaLeft" t="textAreaTop" r="textAreaRight" b="textAreaBottom"/>
            <a:pathLst>
              <a:path w="4500" h="4000">
                <a:moveTo>
                  <a:pt x="0" y="4000"/>
                </a:moveTo>
                <a:cubicBezTo>
                  <a:pt x="0" y="2667"/>
                  <a:pt x="0" y="1333"/>
                  <a:pt x="0" y="0"/>
                </a:cubicBezTo>
                <a:cubicBezTo>
                  <a:pt x="1500" y="0"/>
                  <a:pt x="3000" y="0"/>
                  <a:pt x="4500" y="0"/>
                </a:cubicBezTo>
                <a:cubicBezTo>
                  <a:pt x="4500" y="1333"/>
                  <a:pt x="4500" y="2667"/>
                  <a:pt x="4500" y="4000"/>
                </a:cubicBezTo>
                <a:cubicBezTo>
                  <a:pt x="3000" y="4000"/>
                  <a:pt x="1500" y="4000"/>
                  <a:pt x="0" y="4000"/>
                </a:cubicBez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945360" y="1466280"/>
            <a:ext cx="7406640" cy="86688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spAutoFit/>
          </a:bodyPr>
          <a:p>
            <a:pPr marL="12600" indent="0">
              <a:lnSpc>
                <a:spcPct val="100000"/>
              </a:lnSpc>
              <a:spcBef>
                <a:spcPts val="96"/>
              </a:spcBef>
              <a:buNone/>
              <a:tabLst>
                <a:tab algn="l" pos="0"/>
              </a:tabLst>
            </a:pPr>
            <a:br>
              <a:rPr sz="2800"/>
            </a:b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Can</a:t>
            </a:r>
            <a:r>
              <a:rPr b="0" lang="en-IN" sz="2800" spc="-54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you</a:t>
            </a:r>
            <a:r>
              <a:rPr b="0" lang="en-IN" sz="2800" spc="-3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spot</a:t>
            </a:r>
            <a:r>
              <a:rPr b="0" lang="en-IN" sz="2800" spc="-26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the</a:t>
            </a:r>
            <a:r>
              <a:rPr b="0" lang="en-IN" sz="2800" spc="-5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800" spc="-2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tell-</a:t>
            </a: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tale</a:t>
            </a:r>
            <a:r>
              <a:rPr b="0" lang="en-IN" sz="2800" spc="-45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signs</a:t>
            </a:r>
            <a:r>
              <a:rPr b="0" lang="en-IN" sz="2800" spc="-34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of</a:t>
            </a:r>
            <a:r>
              <a:rPr b="0" lang="en-IN" sz="2800" spc="-5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b="0" lang="en-IN" sz="2800" spc="-4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phishing</a:t>
            </a:r>
            <a:r>
              <a:rPr b="0" lang="en-IN" sz="2800" spc="-6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800" spc="-1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email?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object 3" descr=""/>
          <p:cNvPicPr/>
          <p:nvPr/>
        </p:nvPicPr>
        <p:blipFill>
          <a:blip r:embed="rId1"/>
          <a:stretch/>
        </p:blipFill>
        <p:spPr>
          <a:xfrm>
            <a:off x="228600" y="2520000"/>
            <a:ext cx="8634600" cy="265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"/>
          <p:cNvSpPr/>
          <p:nvPr/>
        </p:nvSpPr>
        <p:spPr>
          <a:xfrm>
            <a:off x="0" y="144000"/>
            <a:ext cx="1619640" cy="1439640"/>
          </a:xfrm>
          <a:custGeom>
            <a:avLst/>
            <a:gdLst>
              <a:gd name="textAreaLeft" fmla="*/ 0 w 1619640"/>
              <a:gd name="textAreaRight" fmla="*/ 1620000 w 1619640"/>
              <a:gd name="textAreaTop" fmla="*/ 0 h 1439640"/>
              <a:gd name="textAreaBottom" fmla="*/ 1440000 h 1439640"/>
            </a:gdLst>
            <a:ahLst/>
            <a:cxnLst/>
            <a:rect l="textAreaLeft" t="textAreaTop" r="textAreaRight" b="textAreaBottom"/>
            <a:pathLst>
              <a:path w="4500" h="4000">
                <a:moveTo>
                  <a:pt x="0" y="4000"/>
                </a:moveTo>
                <a:cubicBezTo>
                  <a:pt x="0" y="2667"/>
                  <a:pt x="0" y="1333"/>
                  <a:pt x="0" y="0"/>
                </a:cubicBezTo>
                <a:cubicBezTo>
                  <a:pt x="1500" y="0"/>
                  <a:pt x="3000" y="0"/>
                  <a:pt x="4500" y="0"/>
                </a:cubicBezTo>
                <a:cubicBezTo>
                  <a:pt x="4500" y="1333"/>
                  <a:pt x="4500" y="2667"/>
                  <a:pt x="4500" y="4000"/>
                </a:cubicBezTo>
                <a:cubicBezTo>
                  <a:pt x="3000" y="4000"/>
                  <a:pt x="1500" y="4000"/>
                  <a:pt x="0" y="4000"/>
                </a:cubicBez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945360" y="1466280"/>
            <a:ext cx="7406640" cy="45252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spAutoFit/>
          </a:bodyPr>
          <a:p>
            <a:pPr marL="12600" indent="0">
              <a:lnSpc>
                <a:spcPct val="100000"/>
              </a:lnSpc>
              <a:spcBef>
                <a:spcPts val="96"/>
              </a:spcBef>
              <a:buNone/>
              <a:tabLst>
                <a:tab algn="l" pos="0"/>
              </a:tabLst>
            </a:pP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Can</a:t>
            </a:r>
            <a:r>
              <a:rPr b="0" lang="en-IN" sz="2800" spc="-54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you</a:t>
            </a:r>
            <a:r>
              <a:rPr b="0" lang="en-IN" sz="2800" spc="-3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spot</a:t>
            </a:r>
            <a:r>
              <a:rPr b="0" lang="en-IN" sz="2800" spc="-26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the</a:t>
            </a:r>
            <a:r>
              <a:rPr b="0" lang="en-IN" sz="2800" spc="-5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800" spc="-2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tell-</a:t>
            </a: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tale</a:t>
            </a:r>
            <a:r>
              <a:rPr b="0" lang="en-IN" sz="2800" spc="-45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signs</a:t>
            </a:r>
            <a:r>
              <a:rPr b="0" lang="en-IN" sz="2800" spc="-34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of</a:t>
            </a:r>
            <a:r>
              <a:rPr b="0" lang="en-IN" sz="2800" spc="-5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b="0" lang="en-IN" sz="2800" spc="-4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phishing</a:t>
            </a:r>
            <a:r>
              <a:rPr b="0" lang="en-IN" sz="2800" spc="-6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800" spc="-1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email?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6" name="object 3" descr=""/>
          <p:cNvPicPr/>
          <p:nvPr/>
        </p:nvPicPr>
        <p:blipFill>
          <a:blip r:embed="rId1"/>
          <a:stretch/>
        </p:blipFill>
        <p:spPr>
          <a:xfrm>
            <a:off x="76320" y="1981080"/>
            <a:ext cx="8991000" cy="2884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" name="object 4"/>
          <p:cNvSpPr/>
          <p:nvPr/>
        </p:nvSpPr>
        <p:spPr>
          <a:xfrm>
            <a:off x="154800" y="4518000"/>
            <a:ext cx="8704440" cy="22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355680" indent="-343080">
              <a:lnSpc>
                <a:spcPct val="100000"/>
              </a:lnSpc>
              <a:spcBef>
                <a:spcPts val="96"/>
              </a:spcBef>
              <a:buClr>
                <a:srgbClr val="000000"/>
              </a:buClr>
              <a:buFont typeface="OpenSymbol"/>
              <a:buAutoNum type="arabicPeriod"/>
              <a:tabLst>
                <a:tab algn="l" pos="355680"/>
              </a:tabLst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first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thing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to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ask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yourself,</a:t>
            </a:r>
            <a:r>
              <a:rPr b="0" lang="en-IN" sz="1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do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know</a:t>
            </a:r>
            <a:r>
              <a:rPr b="0" lang="en-IN" sz="16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this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person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and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should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they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be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emailing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me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about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email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accounts.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If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answered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no,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then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more</a:t>
            </a:r>
            <a:r>
              <a:rPr b="0" lang="en-IN" sz="16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than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likely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it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is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phishing</a:t>
            </a:r>
            <a:r>
              <a:rPr b="0" lang="en-IN" sz="1600" spc="-6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attempt.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4960" indent="-34236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  <a:tabLst>
                <a:tab algn="l" pos="354960"/>
              </a:tabLst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To: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and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Cc: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are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not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showing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so that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</a:t>
            </a:r>
            <a:r>
              <a:rPr b="0" lang="en-IN" sz="16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wont</a:t>
            </a:r>
            <a:r>
              <a:rPr b="0" lang="en-IN" sz="1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be</a:t>
            </a:r>
            <a:r>
              <a:rPr b="0" lang="en-IN" sz="1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able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to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tell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this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is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mass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email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attempting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to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get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5680">
              <a:lnSpc>
                <a:spcPct val="100000"/>
              </a:lnSpc>
              <a:tabLst>
                <a:tab algn="l" pos="354960"/>
              </a:tabLst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as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many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people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as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possible.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5680" indent="-343080">
              <a:lnSpc>
                <a:spcPct val="100000"/>
              </a:lnSpc>
              <a:buClr>
                <a:srgbClr val="000000"/>
              </a:buClr>
              <a:buFont typeface="OpenSymbol"/>
              <a:buAutoNum type="arabicPeriod" startAt="3"/>
              <a:tabLst>
                <a:tab algn="l" pos="355680"/>
              </a:tabLst>
            </a:pP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Hovering</a:t>
            </a:r>
            <a:r>
              <a:rPr b="1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your</a:t>
            </a:r>
            <a:r>
              <a:rPr b="1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mouse</a:t>
            </a:r>
            <a:r>
              <a:rPr b="1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over</a:t>
            </a:r>
            <a:r>
              <a:rPr b="1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b="1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link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,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</a:t>
            </a:r>
            <a:r>
              <a:rPr b="0" lang="en-IN" sz="1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can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see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that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this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is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not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valid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valdosta.edu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address,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but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rather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external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address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attempting</a:t>
            </a:r>
            <a:r>
              <a:rPr b="0" lang="en-IN" sz="16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to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get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your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email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credentials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or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install</a:t>
            </a:r>
            <a:r>
              <a:rPr b="0" lang="en-IN" sz="1600" spc="-7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malicious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software.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This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should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be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your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main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“Aha”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moment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to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let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know</a:t>
            </a:r>
            <a:r>
              <a:rPr b="0" lang="en-IN" sz="1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that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this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is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indeed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phishing</a:t>
            </a:r>
            <a:r>
              <a:rPr b="0" lang="en-IN" sz="1600" spc="-6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email.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4960" indent="-342360">
              <a:lnSpc>
                <a:spcPct val="100000"/>
              </a:lnSpc>
              <a:buClr>
                <a:srgbClr val="000000"/>
              </a:buClr>
              <a:buFont typeface="OpenSymbol"/>
              <a:buAutoNum type="arabicPeriod" startAt="3"/>
              <a:tabLst>
                <a:tab algn="l" pos="354960"/>
              </a:tabLst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signature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is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generic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and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trying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to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lull</a:t>
            </a:r>
            <a:r>
              <a:rPr b="0" lang="en-IN" sz="16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into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false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sense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of</a:t>
            </a:r>
            <a:r>
              <a:rPr b="0" lang="en-IN" sz="1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security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by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saying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this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is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5680">
              <a:lnSpc>
                <a:spcPct val="100000"/>
              </a:lnSpc>
              <a:tabLst>
                <a:tab algn="l" pos="354960"/>
              </a:tabLst>
            </a:pP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“Webmail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Administrator”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0" y="144000"/>
            <a:ext cx="1619640" cy="1439640"/>
          </a:xfrm>
          <a:custGeom>
            <a:avLst/>
            <a:gdLst>
              <a:gd name="textAreaLeft" fmla="*/ 0 w 1619640"/>
              <a:gd name="textAreaRight" fmla="*/ 1620000 w 1619640"/>
              <a:gd name="textAreaTop" fmla="*/ 0 h 1439640"/>
              <a:gd name="textAreaBottom" fmla="*/ 1440000 h 1439640"/>
            </a:gdLst>
            <a:ahLst/>
            <a:cxnLst/>
            <a:rect l="textAreaLeft" t="textAreaTop" r="textAreaRight" b="textAreaBottom"/>
            <a:pathLst>
              <a:path w="4500" h="4000">
                <a:moveTo>
                  <a:pt x="0" y="4000"/>
                </a:moveTo>
                <a:cubicBezTo>
                  <a:pt x="0" y="2667"/>
                  <a:pt x="0" y="1333"/>
                  <a:pt x="0" y="0"/>
                </a:cubicBezTo>
                <a:cubicBezTo>
                  <a:pt x="1500" y="0"/>
                  <a:pt x="3000" y="0"/>
                  <a:pt x="4500" y="0"/>
                </a:cubicBezTo>
                <a:cubicBezTo>
                  <a:pt x="4500" y="1333"/>
                  <a:pt x="4500" y="2667"/>
                  <a:pt x="4500" y="4000"/>
                </a:cubicBezTo>
                <a:cubicBezTo>
                  <a:pt x="3000" y="4000"/>
                  <a:pt x="1500" y="4000"/>
                  <a:pt x="0" y="4000"/>
                </a:cubicBez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1305000" y="1466280"/>
            <a:ext cx="6532200" cy="45252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spAutoFit/>
          </a:bodyPr>
          <a:p>
            <a:pPr marL="12600" indent="0">
              <a:lnSpc>
                <a:spcPct val="100000"/>
              </a:lnSpc>
              <a:spcBef>
                <a:spcPts val="96"/>
              </a:spcBef>
              <a:buNone/>
              <a:tabLst>
                <a:tab algn="l" pos="0"/>
              </a:tabLst>
            </a:pP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Tips</a:t>
            </a:r>
            <a:r>
              <a:rPr b="0" lang="en-IN" sz="2800" spc="-11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to</a:t>
            </a:r>
            <a:r>
              <a:rPr b="0" lang="en-IN" sz="2800" spc="-11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protect</a:t>
            </a:r>
            <a:r>
              <a:rPr b="0" lang="en-IN" sz="2800" spc="-99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yourself</a:t>
            </a:r>
            <a:r>
              <a:rPr b="0" lang="en-IN" sz="2800" spc="-9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from</a:t>
            </a:r>
            <a:r>
              <a:rPr b="0" lang="en-IN" sz="2800" spc="-99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Phishing</a:t>
            </a:r>
            <a:r>
              <a:rPr b="0" lang="en-IN" sz="2800" spc="-7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800" spc="-1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emails.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object 3"/>
          <p:cNvSpPr/>
          <p:nvPr/>
        </p:nvSpPr>
        <p:spPr>
          <a:xfrm>
            <a:off x="345600" y="1913400"/>
            <a:ext cx="8425800" cy="47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299160" indent="-286920">
              <a:lnSpc>
                <a:spcPct val="107000"/>
              </a:lnSpc>
              <a:spcBef>
                <a:spcPts val="99"/>
              </a:spcBef>
              <a:buClr>
                <a:srgbClr val="000000"/>
              </a:buClr>
              <a:buFont typeface="Arial MT"/>
              <a:buChar char="•"/>
              <a:tabLst>
                <a:tab algn="l" pos="299160"/>
              </a:tabLst>
            </a:pPr>
            <a:r>
              <a:rPr b="0" lang="en-IN" sz="1700" spc="-7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I.T.</a:t>
            </a:r>
            <a:r>
              <a:rPr b="0" lang="en-IN" sz="17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will</a:t>
            </a:r>
            <a:r>
              <a:rPr b="0" lang="en-IN" sz="17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NEVER</a:t>
            </a:r>
            <a:r>
              <a:rPr b="1" lang="en-IN" sz="17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ask</a:t>
            </a:r>
            <a:r>
              <a:rPr b="0" lang="en-IN" sz="17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for</a:t>
            </a:r>
            <a:r>
              <a:rPr b="0" lang="en-IN" sz="17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your</a:t>
            </a:r>
            <a:r>
              <a:rPr b="0" lang="en-IN" sz="17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password</a:t>
            </a:r>
            <a:r>
              <a:rPr b="0" lang="en-IN" sz="1700" spc="-6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over</a:t>
            </a:r>
            <a:r>
              <a:rPr b="0" lang="en-IN" sz="17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email.</a:t>
            </a:r>
            <a:r>
              <a:rPr b="0" lang="en-IN" sz="17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Please</a:t>
            </a:r>
            <a:r>
              <a:rPr b="0" lang="en-IN" sz="17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be</a:t>
            </a:r>
            <a:r>
              <a:rPr b="0" lang="en-IN" sz="17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wary</a:t>
            </a:r>
            <a:r>
              <a:rPr b="0" lang="en-IN" sz="17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of</a:t>
            </a:r>
            <a:r>
              <a:rPr b="0" lang="en-IN" sz="17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any</a:t>
            </a:r>
            <a:r>
              <a:rPr b="0" lang="en-IN" sz="17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emails</a:t>
            </a:r>
            <a:r>
              <a:rPr b="0" lang="en-IN" sz="17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asking</a:t>
            </a:r>
            <a:r>
              <a:rPr b="0" lang="en-IN" sz="17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for </a:t>
            </a:r>
            <a:r>
              <a:rPr b="0" lang="en-IN" sz="17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passwords</a:t>
            </a:r>
            <a:r>
              <a:rPr b="1" lang="en-IN" sz="17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.</a:t>
            </a:r>
            <a:r>
              <a:rPr b="1" lang="en-IN" sz="17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Never</a:t>
            </a:r>
            <a:r>
              <a:rPr b="1" lang="en-IN" sz="17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send</a:t>
            </a:r>
            <a:r>
              <a:rPr b="1" lang="en-IN" sz="17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7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passwords,</a:t>
            </a:r>
            <a:r>
              <a:rPr b="1" lang="en-IN" sz="17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bank</a:t>
            </a:r>
            <a:r>
              <a:rPr b="1" lang="en-IN" sz="17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account</a:t>
            </a:r>
            <a:r>
              <a:rPr b="1" lang="en-IN" sz="17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numbers,</a:t>
            </a:r>
            <a:r>
              <a:rPr b="1" lang="en-IN" sz="17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or</a:t>
            </a:r>
            <a:r>
              <a:rPr b="1" lang="en-IN" sz="17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other</a:t>
            </a:r>
            <a:r>
              <a:rPr b="1" lang="en-IN" sz="17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7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private</a:t>
            </a:r>
            <a:r>
              <a:rPr b="1" lang="en-IN" sz="17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7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information</a:t>
            </a:r>
            <a:r>
              <a:rPr b="1" lang="en-IN" sz="17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7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in </a:t>
            </a:r>
            <a:r>
              <a:rPr b="1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</a:t>
            </a:r>
            <a:r>
              <a:rPr b="1" lang="en-IN" sz="17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7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email.</a:t>
            </a:r>
            <a:endParaRPr b="0" lang="en-IN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9160" indent="-286920">
              <a:lnSpc>
                <a:spcPct val="107000"/>
              </a:lnSpc>
              <a:spcBef>
                <a:spcPts val="11"/>
              </a:spcBef>
              <a:buClr>
                <a:srgbClr val="000000"/>
              </a:buClr>
              <a:buFont typeface="Arial MT"/>
              <a:buChar char="•"/>
              <a:tabLst>
                <a:tab algn="l" pos="299160"/>
              </a:tabLst>
            </a:pP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Be</a:t>
            </a:r>
            <a:r>
              <a:rPr b="0" lang="en-IN" sz="17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cautious</a:t>
            </a:r>
            <a:r>
              <a:rPr b="0" lang="en-IN" sz="17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about</a:t>
            </a:r>
            <a:r>
              <a:rPr b="0" lang="en-IN" sz="17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opening</a:t>
            </a:r>
            <a:r>
              <a:rPr b="0" lang="en-IN" sz="17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attachments</a:t>
            </a:r>
            <a:r>
              <a:rPr b="0" lang="en-IN" sz="17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and</a:t>
            </a:r>
            <a:r>
              <a:rPr b="0" lang="en-IN" sz="1700" spc="-6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downloading</a:t>
            </a:r>
            <a:r>
              <a:rPr b="0" lang="en-IN" sz="17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files</a:t>
            </a:r>
            <a:r>
              <a:rPr b="0" lang="en-IN" sz="17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from</a:t>
            </a:r>
            <a:r>
              <a:rPr b="0" lang="en-IN" sz="17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emails,</a:t>
            </a:r>
            <a:r>
              <a:rPr b="0" lang="en-IN" sz="17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regardless</a:t>
            </a:r>
            <a:r>
              <a:rPr b="0" lang="en-IN" sz="17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of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who</a:t>
            </a:r>
            <a:r>
              <a:rPr b="0" lang="en-IN" sz="17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sent</a:t>
            </a:r>
            <a:r>
              <a:rPr b="0" lang="en-IN" sz="17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them.</a:t>
            </a:r>
            <a:r>
              <a:rPr b="0" lang="en-IN" sz="17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These</a:t>
            </a:r>
            <a:r>
              <a:rPr b="0" lang="en-IN" sz="17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files</a:t>
            </a:r>
            <a:r>
              <a:rPr b="0" lang="en-IN" sz="17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can</a:t>
            </a:r>
            <a:r>
              <a:rPr b="0" lang="en-IN" sz="17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contain</a:t>
            </a:r>
            <a:r>
              <a:rPr b="0" lang="en-IN" sz="17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viruses</a:t>
            </a:r>
            <a:r>
              <a:rPr b="0" lang="en-IN" sz="1700" spc="-6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or</a:t>
            </a:r>
            <a:r>
              <a:rPr b="0" lang="en-IN" sz="17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other</a:t>
            </a:r>
            <a:r>
              <a:rPr b="0" lang="en-IN" sz="17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malware</a:t>
            </a:r>
            <a:r>
              <a:rPr b="0" lang="en-IN" sz="17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that</a:t>
            </a:r>
            <a:r>
              <a:rPr b="0" lang="en-IN" sz="17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can</a:t>
            </a:r>
            <a:r>
              <a:rPr b="0" lang="en-IN" sz="17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weaken</a:t>
            </a:r>
            <a:r>
              <a:rPr b="0" lang="en-IN" sz="17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your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computer's</a:t>
            </a:r>
            <a:r>
              <a:rPr b="0" lang="en-IN" sz="17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security.</a:t>
            </a:r>
            <a:r>
              <a:rPr b="0" lang="en-IN" sz="1700" spc="-6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If</a:t>
            </a:r>
            <a:r>
              <a:rPr b="0" lang="en-IN" sz="17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</a:t>
            </a:r>
            <a:r>
              <a:rPr b="0" lang="en-IN" sz="17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are</a:t>
            </a:r>
            <a:r>
              <a:rPr b="0" lang="en-IN" sz="17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not</a:t>
            </a:r>
            <a:r>
              <a:rPr b="0" lang="en-IN" sz="17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expecting</a:t>
            </a:r>
            <a:r>
              <a:rPr b="0" lang="en-IN" sz="1700" spc="-6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</a:t>
            </a:r>
            <a:r>
              <a:rPr b="0" lang="en-IN" sz="17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email</a:t>
            </a:r>
            <a:r>
              <a:rPr b="0" lang="en-IN" sz="17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with</a:t>
            </a:r>
            <a:r>
              <a:rPr b="0" lang="en-IN" sz="17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</a:t>
            </a:r>
            <a:r>
              <a:rPr b="0" lang="en-IN" sz="17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attachment</a:t>
            </a:r>
            <a:r>
              <a:rPr b="0" lang="en-IN" sz="17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from</a:t>
            </a:r>
            <a:r>
              <a:rPr b="0" lang="en-IN" sz="17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someone,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such</a:t>
            </a:r>
            <a:r>
              <a:rPr b="0" lang="en-IN" sz="17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as</a:t>
            </a:r>
            <a:r>
              <a:rPr b="0" lang="en-IN" sz="17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en-IN" sz="17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fax</a:t>
            </a:r>
            <a:r>
              <a:rPr b="0" lang="en-IN" sz="17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or</a:t>
            </a:r>
            <a:r>
              <a:rPr b="0" lang="en-IN" sz="17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en-IN" sz="17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PDF,</a:t>
            </a:r>
            <a:r>
              <a:rPr b="0" lang="en-IN" sz="17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please</a:t>
            </a:r>
            <a:r>
              <a:rPr b="0" lang="en-IN" sz="17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call</a:t>
            </a:r>
            <a:r>
              <a:rPr b="1" lang="en-IN" sz="17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and</a:t>
            </a:r>
            <a:r>
              <a:rPr b="0" lang="en-IN" sz="17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ask</a:t>
            </a:r>
            <a:r>
              <a:rPr b="0" lang="en-IN" sz="17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them</a:t>
            </a:r>
            <a:r>
              <a:rPr b="0" lang="en-IN" sz="17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if</a:t>
            </a:r>
            <a:r>
              <a:rPr b="0" lang="en-IN" sz="17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they</a:t>
            </a:r>
            <a:r>
              <a:rPr b="0" lang="en-IN" sz="17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indeed</a:t>
            </a:r>
            <a:r>
              <a:rPr b="0" lang="en-IN" sz="1700" spc="-6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sent</a:t>
            </a:r>
            <a:r>
              <a:rPr b="0" lang="en-IN" sz="17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b="0" lang="en-IN" sz="17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email.</a:t>
            </a:r>
            <a:r>
              <a:rPr b="0" lang="en-IN" sz="17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If</a:t>
            </a:r>
            <a:r>
              <a:rPr b="0" lang="en-IN" sz="17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not,</a:t>
            </a:r>
            <a:r>
              <a:rPr b="0" lang="en-IN" sz="17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let</a:t>
            </a:r>
            <a:r>
              <a:rPr b="0" lang="en-IN" sz="17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them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know</a:t>
            </a:r>
            <a:r>
              <a:rPr b="0" lang="en-IN" sz="17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they</a:t>
            </a:r>
            <a:r>
              <a:rPr b="0" lang="en-IN" sz="17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are</a:t>
            </a:r>
            <a:r>
              <a:rPr b="0" lang="en-IN" sz="17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sending</a:t>
            </a:r>
            <a:r>
              <a:rPr b="0" lang="en-IN" sz="17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out</a:t>
            </a:r>
            <a:r>
              <a:rPr b="0" lang="en-IN" sz="17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Phishing</a:t>
            </a:r>
            <a:r>
              <a:rPr b="0" lang="en-IN" sz="17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emails</a:t>
            </a:r>
            <a:r>
              <a:rPr b="0" lang="en-IN" sz="17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and</a:t>
            </a:r>
            <a:r>
              <a:rPr b="0" lang="en-IN" sz="17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need</a:t>
            </a:r>
            <a:r>
              <a:rPr b="0" lang="en-IN" sz="17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to</a:t>
            </a:r>
            <a:r>
              <a:rPr b="0" lang="en-IN" sz="17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change</a:t>
            </a:r>
            <a:r>
              <a:rPr b="0" lang="en-IN" sz="17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their</a:t>
            </a:r>
            <a:r>
              <a:rPr b="0" lang="en-IN" sz="17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email</a:t>
            </a:r>
            <a:r>
              <a:rPr b="0" lang="en-IN" sz="17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password immediately.</a:t>
            </a:r>
            <a:endParaRPr b="0" lang="en-IN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9160" indent="-286560">
              <a:lnSpc>
                <a:spcPct val="100000"/>
              </a:lnSpc>
              <a:spcBef>
                <a:spcPts val="164"/>
              </a:spcBef>
              <a:buClr>
                <a:srgbClr val="000000"/>
              </a:buClr>
              <a:buFont typeface="Arial MT"/>
              <a:buChar char="•"/>
              <a:tabLst>
                <a:tab algn="l" pos="299160"/>
              </a:tabLst>
            </a:pPr>
            <a:r>
              <a:rPr b="1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Never</a:t>
            </a:r>
            <a:r>
              <a:rPr b="1" lang="en-IN" sz="17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enter</a:t>
            </a:r>
            <a:r>
              <a:rPr b="0" lang="en-IN" sz="17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private</a:t>
            </a:r>
            <a:r>
              <a:rPr b="0" lang="en-IN" sz="17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or</a:t>
            </a:r>
            <a:r>
              <a:rPr b="0" lang="en-IN" sz="17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personal</a:t>
            </a:r>
            <a:r>
              <a:rPr b="0" lang="en-IN" sz="17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information</a:t>
            </a:r>
            <a:r>
              <a:rPr b="0" lang="en-IN" sz="1700" spc="-6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into</a:t>
            </a:r>
            <a:r>
              <a:rPr b="0" lang="en-IN" sz="17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en-IN" sz="17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popup</a:t>
            </a:r>
            <a:r>
              <a:rPr b="0" lang="en-IN" sz="1700" spc="-6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window.</a:t>
            </a:r>
            <a:endParaRPr b="0" lang="en-IN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9160" indent="-286920">
              <a:lnSpc>
                <a:spcPct val="107000"/>
              </a:lnSpc>
              <a:buClr>
                <a:srgbClr val="000000"/>
              </a:buClr>
              <a:buFont typeface="Arial MT"/>
              <a:buChar char="•"/>
              <a:tabLst>
                <a:tab algn="l" pos="299160"/>
              </a:tabLst>
            </a:pP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If</a:t>
            </a:r>
            <a:r>
              <a:rPr b="0" lang="en-IN" sz="17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there</a:t>
            </a:r>
            <a:r>
              <a:rPr b="0" lang="en-IN" sz="17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is</a:t>
            </a:r>
            <a:r>
              <a:rPr b="0" lang="en-IN" sz="17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en-IN" sz="17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link</a:t>
            </a:r>
            <a:r>
              <a:rPr b="0" lang="en-IN" sz="17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in</a:t>
            </a:r>
            <a:r>
              <a:rPr b="0" lang="en-IN" sz="17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</a:t>
            </a:r>
            <a:r>
              <a:rPr b="0" lang="en-IN" sz="17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email,</a:t>
            </a:r>
            <a:r>
              <a:rPr b="0" lang="en-IN" sz="17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use</a:t>
            </a:r>
            <a:r>
              <a:rPr b="0" lang="en-IN" sz="17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your</a:t>
            </a:r>
            <a:r>
              <a:rPr b="0" lang="en-IN" sz="17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mouse</a:t>
            </a:r>
            <a:r>
              <a:rPr b="0" lang="en-IN" sz="17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to</a:t>
            </a:r>
            <a:r>
              <a:rPr b="0" lang="en-IN" sz="17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hover</a:t>
            </a:r>
            <a:r>
              <a:rPr b="0" lang="en-IN" sz="17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over</a:t>
            </a:r>
            <a:r>
              <a:rPr b="0" lang="en-IN" sz="17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that</a:t>
            </a:r>
            <a:r>
              <a:rPr b="0" lang="en-IN" sz="17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link</a:t>
            </a:r>
            <a:r>
              <a:rPr b="0" lang="en-IN" sz="17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to</a:t>
            </a:r>
            <a:r>
              <a:rPr b="0" lang="en-IN" sz="17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see</a:t>
            </a:r>
            <a:r>
              <a:rPr b="0" lang="en-IN" sz="17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if</a:t>
            </a:r>
            <a:r>
              <a:rPr b="0" lang="en-IN" sz="17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it</a:t>
            </a:r>
            <a:r>
              <a:rPr b="0" lang="en-IN" sz="17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is</a:t>
            </a:r>
            <a:r>
              <a:rPr b="0" lang="en-IN" sz="17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sending</a:t>
            </a:r>
            <a:r>
              <a:rPr b="0" lang="en-IN" sz="17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to</a:t>
            </a:r>
            <a:r>
              <a:rPr b="0" lang="en-IN" sz="17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where</a:t>
            </a:r>
            <a:r>
              <a:rPr b="0" lang="en-IN" sz="17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it</a:t>
            </a:r>
            <a:r>
              <a:rPr b="0" lang="en-IN" sz="17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claims</a:t>
            </a:r>
            <a:r>
              <a:rPr b="0" lang="en-IN" sz="17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to</a:t>
            </a:r>
            <a:r>
              <a:rPr b="0" lang="en-IN" sz="17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be,</a:t>
            </a:r>
            <a:r>
              <a:rPr b="0" lang="en-IN" sz="17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this</a:t>
            </a:r>
            <a:r>
              <a:rPr b="0" lang="en-IN" sz="17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can</a:t>
            </a:r>
            <a:r>
              <a:rPr b="0" lang="en-IN" sz="17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thwart</a:t>
            </a:r>
            <a:r>
              <a:rPr b="0" lang="en-IN" sz="17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many</a:t>
            </a:r>
            <a:r>
              <a:rPr b="0" lang="en-IN" sz="17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phishing</a:t>
            </a:r>
            <a:r>
              <a:rPr b="0" lang="en-IN" sz="17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attempts.</a:t>
            </a:r>
            <a:endParaRPr b="0" lang="en-IN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9160" indent="-286560">
              <a:lnSpc>
                <a:spcPct val="100000"/>
              </a:lnSpc>
              <a:spcBef>
                <a:spcPts val="170"/>
              </a:spcBef>
              <a:buClr>
                <a:srgbClr val="000000"/>
              </a:buClr>
              <a:buFont typeface="Arial MT"/>
              <a:buChar char="•"/>
              <a:tabLst>
                <a:tab algn="l" pos="299160"/>
                <a:tab algn="l" pos="3582000"/>
              </a:tabLst>
            </a:pP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Look</a:t>
            </a:r>
            <a:r>
              <a:rPr b="0" lang="en-IN" sz="17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for</a:t>
            </a:r>
            <a:r>
              <a:rPr b="0" lang="en-IN" sz="17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'https://'</a:t>
            </a:r>
            <a:r>
              <a:rPr b="1" lang="en-IN" sz="17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and</a:t>
            </a:r>
            <a:r>
              <a:rPr b="0" lang="en-IN" sz="17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en-IN" sz="17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lock</a:t>
            </a:r>
            <a:r>
              <a:rPr b="1" lang="en-IN" sz="17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7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icon</a:t>
            </a:r>
            <a:r>
              <a:rPr b="1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	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in</a:t>
            </a:r>
            <a:r>
              <a:rPr b="0" lang="en-IN" sz="17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b="0" lang="en-IN" sz="17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address</a:t>
            </a:r>
            <a:r>
              <a:rPr b="0" lang="en-IN" sz="1700" spc="-6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bar</a:t>
            </a:r>
            <a:r>
              <a:rPr b="0" lang="en-IN" sz="17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before</a:t>
            </a:r>
            <a:r>
              <a:rPr b="0" lang="en-IN" sz="17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entering</a:t>
            </a:r>
            <a:r>
              <a:rPr b="0" lang="en-IN" sz="1700" spc="-6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any</a:t>
            </a:r>
            <a:r>
              <a:rPr b="0" lang="en-IN" sz="17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private</a:t>
            </a:r>
            <a:endParaRPr b="0" lang="en-IN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9160">
              <a:lnSpc>
                <a:spcPct val="100000"/>
              </a:lnSpc>
              <a:spcBef>
                <a:spcPts val="159"/>
              </a:spcBef>
              <a:tabLst>
                <a:tab algn="l" pos="299160"/>
                <a:tab algn="l" pos="3582000"/>
              </a:tabLst>
            </a:pPr>
            <a:r>
              <a:rPr b="0" lang="en-IN" sz="17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information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on a</a:t>
            </a:r>
            <a:r>
              <a:rPr b="0" lang="en-IN" sz="17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website.</a:t>
            </a:r>
            <a:endParaRPr b="0" lang="en-IN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9160" indent="-286920">
              <a:lnSpc>
                <a:spcPts val="2211"/>
              </a:lnSpc>
              <a:spcBef>
                <a:spcPts val="85"/>
              </a:spcBef>
              <a:buClr>
                <a:srgbClr val="000000"/>
              </a:buClr>
              <a:buFont typeface="Arial MT"/>
              <a:buChar char="•"/>
              <a:tabLst>
                <a:tab algn="l" pos="299160"/>
              </a:tabLst>
            </a:pP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Look</a:t>
            </a:r>
            <a:r>
              <a:rPr b="0" lang="en-IN" sz="17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for</a:t>
            </a:r>
            <a:r>
              <a:rPr b="0" lang="en-IN" sz="17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spelling</a:t>
            </a:r>
            <a:r>
              <a:rPr b="0" lang="en-IN" sz="17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and</a:t>
            </a:r>
            <a:r>
              <a:rPr b="0" lang="en-IN" sz="17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bad</a:t>
            </a:r>
            <a:r>
              <a:rPr b="0" lang="en-IN" sz="17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grammar.</a:t>
            </a:r>
            <a:r>
              <a:rPr b="0" lang="en-IN" sz="17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Cybercriminals</a:t>
            </a:r>
            <a:r>
              <a:rPr b="0" lang="en-IN" sz="17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are</a:t>
            </a:r>
            <a:r>
              <a:rPr b="0" lang="en-IN" sz="17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not</a:t>
            </a:r>
            <a:r>
              <a:rPr b="0" lang="en-IN" sz="17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known</a:t>
            </a:r>
            <a:r>
              <a:rPr b="0" lang="en-IN" sz="17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for</a:t>
            </a:r>
            <a:r>
              <a:rPr b="0" lang="en-IN" sz="17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their</a:t>
            </a:r>
            <a:r>
              <a:rPr b="0" lang="en-IN" sz="17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grammar</a:t>
            </a:r>
            <a:r>
              <a:rPr b="0" lang="en-IN" sz="17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and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spelling.</a:t>
            </a:r>
            <a:r>
              <a:rPr b="0" lang="en-IN" sz="17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Professional</a:t>
            </a:r>
            <a:r>
              <a:rPr b="0" lang="en-IN" sz="17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companies</a:t>
            </a:r>
            <a:r>
              <a:rPr b="0" lang="en-IN" sz="17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or</a:t>
            </a:r>
            <a:r>
              <a:rPr b="0" lang="en-IN" sz="17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organizations</a:t>
            </a:r>
            <a:r>
              <a:rPr b="0" lang="en-IN" sz="1700" spc="-6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usually</a:t>
            </a:r>
            <a:r>
              <a:rPr b="0" lang="en-IN" sz="17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have staff</a:t>
            </a:r>
            <a:r>
              <a:rPr b="0" lang="en-IN" sz="17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that</a:t>
            </a:r>
            <a:r>
              <a:rPr b="0" lang="en-IN" sz="17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will</a:t>
            </a:r>
            <a:r>
              <a:rPr b="0" lang="en-IN" sz="17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not</a:t>
            </a:r>
            <a:r>
              <a:rPr b="0" lang="en-IN" sz="17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allow</a:t>
            </a:r>
            <a:r>
              <a:rPr b="0" lang="en-IN" sz="17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en-IN" sz="17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mass</a:t>
            </a:r>
            <a:endParaRPr b="0" lang="en-IN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9160">
              <a:lnSpc>
                <a:spcPct val="100000"/>
              </a:lnSpc>
              <a:spcBef>
                <a:spcPts val="54"/>
              </a:spcBef>
              <a:tabLst>
                <a:tab algn="l" pos="299160"/>
              </a:tabLst>
            </a:pP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email</a:t>
            </a:r>
            <a:r>
              <a:rPr b="0" lang="en-IN" sz="17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like</a:t>
            </a:r>
            <a:r>
              <a:rPr b="0" lang="en-IN" sz="17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this</a:t>
            </a:r>
            <a:r>
              <a:rPr b="0" lang="en-IN" sz="17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to</a:t>
            </a:r>
            <a:r>
              <a:rPr b="0" lang="en-IN" sz="17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go</a:t>
            </a:r>
            <a:r>
              <a:rPr b="0" lang="en-IN" sz="17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out</a:t>
            </a:r>
            <a:r>
              <a:rPr b="0" lang="en-IN" sz="17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to</a:t>
            </a:r>
            <a:r>
              <a:rPr b="0" lang="en-IN" sz="17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its</a:t>
            </a:r>
            <a:r>
              <a:rPr b="0" lang="en-IN" sz="17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users.</a:t>
            </a:r>
            <a:r>
              <a:rPr b="0" lang="en-IN" sz="1700" spc="-6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If</a:t>
            </a:r>
            <a:r>
              <a:rPr b="0" lang="en-IN" sz="17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</a:t>
            </a:r>
            <a:r>
              <a:rPr b="0" lang="en-IN" sz="17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notice</a:t>
            </a:r>
            <a:r>
              <a:rPr b="0" lang="en-IN" sz="17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mistakes</a:t>
            </a:r>
            <a:r>
              <a:rPr b="0" lang="en-IN" sz="17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in</a:t>
            </a:r>
            <a:r>
              <a:rPr b="0" lang="en-IN" sz="17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</a:t>
            </a:r>
            <a:r>
              <a:rPr b="0" lang="en-IN" sz="17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email,</a:t>
            </a:r>
            <a:r>
              <a:rPr b="0" lang="en-IN" sz="17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it</a:t>
            </a:r>
            <a:r>
              <a:rPr b="0" lang="en-IN" sz="17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might</a:t>
            </a:r>
            <a:r>
              <a:rPr b="0" lang="en-IN" sz="17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be</a:t>
            </a:r>
            <a:r>
              <a:rPr b="0" lang="en-IN" sz="17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en-IN" sz="17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7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scam.</a:t>
            </a:r>
            <a:endParaRPr b="0" lang="en-IN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1" name="object 4" descr=""/>
          <p:cNvPicPr/>
          <p:nvPr/>
        </p:nvPicPr>
        <p:blipFill>
          <a:blip r:embed="rId1"/>
          <a:stretch/>
        </p:blipFill>
        <p:spPr>
          <a:xfrm>
            <a:off x="3581280" y="5295960"/>
            <a:ext cx="304200" cy="342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" name=""/>
          <p:cNvSpPr/>
          <p:nvPr/>
        </p:nvSpPr>
        <p:spPr>
          <a:xfrm>
            <a:off x="0" y="144000"/>
            <a:ext cx="1619640" cy="1439640"/>
          </a:xfrm>
          <a:custGeom>
            <a:avLst/>
            <a:gdLst>
              <a:gd name="textAreaLeft" fmla="*/ 0 w 1619640"/>
              <a:gd name="textAreaRight" fmla="*/ 1620000 w 1619640"/>
              <a:gd name="textAreaTop" fmla="*/ 0 h 1439640"/>
              <a:gd name="textAreaBottom" fmla="*/ 1440000 h 1439640"/>
            </a:gdLst>
            <a:ahLst/>
            <a:cxnLst/>
            <a:rect l="textAreaLeft" t="textAreaTop" r="textAreaRight" b="textAreaBottom"/>
            <a:pathLst>
              <a:path w="4500" h="4000">
                <a:moveTo>
                  <a:pt x="0" y="4000"/>
                </a:moveTo>
                <a:cubicBezTo>
                  <a:pt x="0" y="2667"/>
                  <a:pt x="0" y="1333"/>
                  <a:pt x="0" y="0"/>
                </a:cubicBezTo>
                <a:cubicBezTo>
                  <a:pt x="1500" y="0"/>
                  <a:pt x="3000" y="0"/>
                  <a:pt x="4500" y="0"/>
                </a:cubicBezTo>
                <a:cubicBezTo>
                  <a:pt x="4500" y="1333"/>
                  <a:pt x="4500" y="2667"/>
                  <a:pt x="4500" y="4000"/>
                </a:cubicBezTo>
                <a:cubicBezTo>
                  <a:pt x="3000" y="4000"/>
                  <a:pt x="1500" y="4000"/>
                  <a:pt x="0" y="4000"/>
                </a:cubicBez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856800" y="1557720"/>
            <a:ext cx="7428240" cy="87948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spAutoFit/>
          </a:bodyPr>
          <a:p>
            <a:pPr marL="3274200" indent="-3261960">
              <a:lnSpc>
                <a:spcPct val="100000"/>
              </a:lnSpc>
              <a:spcBef>
                <a:spcPts val="96"/>
              </a:spcBef>
              <a:buNone/>
              <a:tabLst>
                <a:tab algn="l" pos="0"/>
              </a:tabLst>
            </a:pP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What</a:t>
            </a:r>
            <a:r>
              <a:rPr b="0" lang="en-IN" sz="2800" spc="-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to</a:t>
            </a:r>
            <a:r>
              <a:rPr b="0" lang="en-IN" sz="2800" spc="-7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do</a:t>
            </a:r>
            <a:r>
              <a:rPr b="0" lang="en-IN" sz="2800" spc="-5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when</a:t>
            </a:r>
            <a:r>
              <a:rPr b="0" lang="en-IN" sz="2800" spc="-65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you</a:t>
            </a:r>
            <a:r>
              <a:rPr b="0" lang="en-IN" sz="2800" spc="-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think</a:t>
            </a:r>
            <a:r>
              <a:rPr b="0" lang="en-IN" sz="2800" spc="-4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you</a:t>
            </a:r>
            <a:r>
              <a:rPr b="0" lang="en-IN" sz="2800" spc="-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received</a:t>
            </a:r>
            <a:r>
              <a:rPr b="0" lang="en-IN" sz="2800" spc="-7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b="0" lang="en-IN" sz="2800" spc="-65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800" spc="-1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phishing email.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object 3"/>
          <p:cNvSpPr/>
          <p:nvPr/>
        </p:nvSpPr>
        <p:spPr>
          <a:xfrm>
            <a:off x="266760" y="2816280"/>
            <a:ext cx="8609760" cy="3277800"/>
          </a:xfrm>
          <a:prstGeom prst="rect">
            <a:avLst/>
          </a:prstGeom>
          <a:noFill/>
          <a:ln w="9144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23400" bIns="0" anchor="t">
            <a:spAutoFit/>
          </a:bodyPr>
          <a:p>
            <a:pPr marL="378000" indent="-286920">
              <a:lnSpc>
                <a:spcPts val="3600"/>
              </a:lnSpc>
              <a:spcBef>
                <a:spcPts val="184"/>
              </a:spcBef>
              <a:buClr>
                <a:srgbClr val="000000"/>
              </a:buClr>
              <a:buFont typeface="Arial MT"/>
              <a:buChar char="•"/>
              <a:tabLst>
                <a:tab algn="l" pos="3780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First,</a:t>
            </a:r>
            <a:r>
              <a:rPr b="0" lang="en-IN" sz="20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do</a:t>
            </a:r>
            <a:r>
              <a:rPr b="1" lang="en-IN" sz="20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not</a:t>
            </a:r>
            <a:r>
              <a:rPr b="1" lang="en-IN" sz="20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</a:t>
            </a:r>
            <a:r>
              <a:rPr b="0" lang="en-IN" sz="20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on</a:t>
            </a:r>
            <a:r>
              <a:rPr b="0" lang="en-IN" sz="20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any</a:t>
            </a:r>
            <a:r>
              <a:rPr b="0" lang="en-IN" sz="20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links</a:t>
            </a:r>
            <a:r>
              <a:rPr b="0" lang="en-IN" sz="20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within</a:t>
            </a:r>
            <a:r>
              <a:rPr b="0" lang="en-IN" sz="20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b="0" lang="en-IN" sz="20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email</a:t>
            </a:r>
            <a:r>
              <a:rPr b="0" lang="en-IN" sz="20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or</a:t>
            </a:r>
            <a:r>
              <a:rPr b="0" lang="en-IN" sz="20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download</a:t>
            </a:r>
            <a:r>
              <a:rPr b="0" lang="en-IN" sz="2000" spc="-6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any</a:t>
            </a:r>
            <a:r>
              <a:rPr b="0" lang="en-IN" sz="20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0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attachment. Forward</a:t>
            </a:r>
            <a:r>
              <a:rPr b="0" lang="en-IN" sz="20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b="0" lang="en-IN" sz="20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email</a:t>
            </a:r>
            <a:r>
              <a:rPr b="0" lang="en-IN" sz="20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to</a:t>
            </a:r>
            <a:r>
              <a:rPr b="0" lang="en-IN" sz="20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000" spc="-11" strike="noStrike" u="sng">
                <a:solidFill>
                  <a:srgbClr val="0000ff"/>
                </a:solidFill>
                <a:effectLst/>
                <a:uFill>
                  <a:solidFill>
                    <a:srgbClr val="0000ff"/>
                  </a:solidFill>
                </a:uFill>
                <a:latin typeface="Calibri"/>
                <a:hlinkClick r:id="rId1"/>
              </a:rPr>
              <a:t>abuse@valdosta.edu</a:t>
            </a:r>
            <a:r>
              <a:rPr b="0" lang="en-IN" sz="2000" spc="-40" strike="noStrike" u="none">
                <a:solidFill>
                  <a:srgbClr val="0000ff"/>
                </a:solidFill>
                <a:effectLst/>
                <a:uFillTx/>
                <a:latin typeface="Calibri"/>
              </a:rPr>
              <a:t> </a:t>
            </a: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for</a:t>
            </a:r>
            <a:r>
              <a:rPr b="0" lang="en-IN" sz="20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0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Information</a:t>
            </a:r>
            <a:r>
              <a:rPr b="0" lang="en-IN" sz="20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Security</a:t>
            </a:r>
            <a:r>
              <a:rPr b="0" lang="en-IN" sz="20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to</a:t>
            </a:r>
            <a:r>
              <a:rPr b="0" lang="en-IN" sz="20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0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examine </a:t>
            </a: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and</a:t>
            </a:r>
            <a:r>
              <a:rPr b="0" lang="en-IN" sz="20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determine</a:t>
            </a:r>
            <a:r>
              <a:rPr b="0" lang="en-IN" sz="20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if</a:t>
            </a:r>
            <a:r>
              <a:rPr b="0" lang="en-IN" sz="20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0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legitimate.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78000" indent="-286920">
              <a:lnSpc>
                <a:spcPct val="100000"/>
              </a:lnSpc>
              <a:spcBef>
                <a:spcPts val="879"/>
              </a:spcBef>
              <a:buClr>
                <a:srgbClr val="000000"/>
              </a:buClr>
              <a:buFont typeface="Arial MT"/>
              <a:buChar char="•"/>
              <a:tabLst>
                <a:tab algn="l" pos="3780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If</a:t>
            </a:r>
            <a:r>
              <a:rPr b="0" lang="en-IN" sz="20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there</a:t>
            </a:r>
            <a:r>
              <a:rPr b="0" lang="en-IN" sz="20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is</a:t>
            </a:r>
            <a:r>
              <a:rPr b="0" lang="en-IN" sz="20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</a:t>
            </a:r>
            <a:r>
              <a:rPr b="0" lang="en-IN" sz="20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0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attachment</a:t>
            </a:r>
            <a:r>
              <a:rPr b="0" lang="en-IN" sz="20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in</a:t>
            </a:r>
            <a:r>
              <a:rPr b="0" lang="en-IN" sz="20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b="0" lang="en-IN" sz="20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email,</a:t>
            </a:r>
            <a:r>
              <a:rPr b="0" lang="en-IN" sz="20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and</a:t>
            </a:r>
            <a:r>
              <a:rPr b="0" lang="en-IN" sz="20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</a:t>
            </a:r>
            <a:r>
              <a:rPr b="0" lang="en-IN" sz="2000" spc="-6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0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recognize</a:t>
            </a:r>
            <a:r>
              <a:rPr b="0" lang="en-IN" sz="20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b="0" lang="en-IN" sz="20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sender</a:t>
            </a:r>
            <a:r>
              <a:rPr b="0" lang="en-IN" sz="20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but</a:t>
            </a:r>
            <a:r>
              <a:rPr b="0" lang="en-IN" sz="20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0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aren't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78000">
              <a:lnSpc>
                <a:spcPct val="150000"/>
              </a:lnSpc>
              <a:spcBef>
                <a:spcPts val="6"/>
              </a:spcBef>
              <a:tabLst>
                <a:tab algn="l" pos="3780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expecting</a:t>
            </a:r>
            <a:r>
              <a:rPr b="0" lang="en-IN" sz="20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</a:t>
            </a:r>
            <a:r>
              <a:rPr b="0" lang="en-IN" sz="20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0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attachment</a:t>
            </a:r>
            <a:r>
              <a:rPr b="0" lang="en-IN" sz="20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from</a:t>
            </a:r>
            <a:r>
              <a:rPr b="0" lang="en-IN" sz="20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them,</a:t>
            </a:r>
            <a:r>
              <a:rPr b="0" lang="en-IN" sz="20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please</a:t>
            </a:r>
            <a:r>
              <a:rPr b="0" lang="en-IN" sz="20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call</a:t>
            </a:r>
            <a:r>
              <a:rPr b="1" lang="en-IN" sz="20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them</a:t>
            </a:r>
            <a:r>
              <a:rPr b="0" lang="en-IN" sz="20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and</a:t>
            </a:r>
            <a:r>
              <a:rPr b="0" lang="en-IN" sz="20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ask</a:t>
            </a:r>
            <a:r>
              <a:rPr b="0" lang="en-IN" sz="20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if</a:t>
            </a:r>
            <a:r>
              <a:rPr b="0" lang="en-IN" sz="20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it</a:t>
            </a:r>
            <a:r>
              <a:rPr b="0" lang="en-IN" sz="20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20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is </a:t>
            </a:r>
            <a:r>
              <a:rPr b="0" lang="en-IN" sz="20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legitimate.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0" y="144000"/>
            <a:ext cx="1619640" cy="1439640"/>
          </a:xfrm>
          <a:custGeom>
            <a:avLst/>
            <a:gdLst>
              <a:gd name="textAreaLeft" fmla="*/ 0 w 1619640"/>
              <a:gd name="textAreaRight" fmla="*/ 1620000 w 1619640"/>
              <a:gd name="textAreaTop" fmla="*/ 0 h 1439640"/>
              <a:gd name="textAreaBottom" fmla="*/ 1440000 h 1439640"/>
            </a:gdLst>
            <a:ahLst/>
            <a:cxnLst/>
            <a:rect l="textAreaLeft" t="textAreaTop" r="textAreaRight" b="textAreaBottom"/>
            <a:pathLst>
              <a:path w="4500" h="4000">
                <a:moveTo>
                  <a:pt x="0" y="4000"/>
                </a:moveTo>
                <a:cubicBezTo>
                  <a:pt x="0" y="2667"/>
                  <a:pt x="0" y="1333"/>
                  <a:pt x="0" y="0"/>
                </a:cubicBezTo>
                <a:cubicBezTo>
                  <a:pt x="1500" y="0"/>
                  <a:pt x="3000" y="0"/>
                  <a:pt x="4500" y="0"/>
                </a:cubicBezTo>
                <a:cubicBezTo>
                  <a:pt x="4500" y="1333"/>
                  <a:pt x="4500" y="2667"/>
                  <a:pt x="4500" y="4000"/>
                </a:cubicBezTo>
                <a:cubicBezTo>
                  <a:pt x="3000" y="4000"/>
                  <a:pt x="1500" y="4000"/>
                  <a:pt x="0" y="4000"/>
                </a:cubicBez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2379240" y="1466280"/>
            <a:ext cx="4392720" cy="45252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spAutoFit/>
          </a:bodyPr>
          <a:p>
            <a:pPr marL="12600" indent="0">
              <a:lnSpc>
                <a:spcPct val="100000"/>
              </a:lnSpc>
              <a:spcBef>
                <a:spcPts val="96"/>
              </a:spcBef>
              <a:buNone/>
              <a:tabLst>
                <a:tab algn="l" pos="0"/>
              </a:tabLst>
            </a:pP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Signs</a:t>
            </a:r>
            <a:r>
              <a:rPr b="0" lang="en-IN" sz="2800" spc="-45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of</a:t>
            </a:r>
            <a:r>
              <a:rPr b="0" lang="en-IN" sz="2800" spc="-54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b="0" lang="en-IN" sz="2800" spc="-45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Phishing</a:t>
            </a:r>
            <a:r>
              <a:rPr b="0" lang="en-IN" sz="2800" spc="-6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Phone</a:t>
            </a:r>
            <a:r>
              <a:rPr b="0" lang="en-IN" sz="2800" spc="-3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800" spc="-1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Call: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object 3"/>
          <p:cNvSpPr/>
          <p:nvPr/>
        </p:nvSpPr>
        <p:spPr>
          <a:xfrm>
            <a:off x="345600" y="2034720"/>
            <a:ext cx="7997760" cy="414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49760" bIns="0" anchor="t">
            <a:spAutoFit/>
          </a:bodyPr>
          <a:p>
            <a:pPr marL="299160" indent="-286560">
              <a:lnSpc>
                <a:spcPct val="100000"/>
              </a:lnSpc>
              <a:spcBef>
                <a:spcPts val="1179"/>
              </a:spcBef>
              <a:buClr>
                <a:srgbClr val="000000"/>
              </a:buClr>
              <a:buFont typeface="Arial MT"/>
              <a:buChar char="•"/>
              <a:tabLst>
                <a:tab algn="l" pos="299160"/>
              </a:tabLst>
            </a:pPr>
            <a:r>
              <a:rPr b="0" lang="en-IN" sz="18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You've</a:t>
            </a:r>
            <a:r>
              <a:rPr b="0" lang="en-IN" sz="18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been</a:t>
            </a:r>
            <a:r>
              <a:rPr b="0" lang="en-IN" sz="18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specially</a:t>
            </a:r>
            <a:r>
              <a:rPr b="0" lang="en-IN" sz="18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selected</a:t>
            </a:r>
            <a:r>
              <a:rPr b="0" lang="en-IN" sz="18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(for</a:t>
            </a:r>
            <a:r>
              <a:rPr b="0" lang="en-IN" sz="18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this</a:t>
            </a:r>
            <a:r>
              <a:rPr b="0" lang="en-IN" sz="18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8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offer).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9160" indent="-286560">
              <a:lnSpc>
                <a:spcPct val="100000"/>
              </a:lnSpc>
              <a:spcBef>
                <a:spcPts val="1080"/>
              </a:spcBef>
              <a:buClr>
                <a:srgbClr val="000000"/>
              </a:buClr>
              <a:buFont typeface="Arial MT"/>
              <a:buChar char="•"/>
              <a:tabLst>
                <a:tab algn="l" pos="299160"/>
              </a:tabLst>
            </a:pPr>
            <a:r>
              <a:rPr b="0" lang="en-IN" sz="18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You'll</a:t>
            </a:r>
            <a:r>
              <a:rPr b="0" lang="en-IN" sz="18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get</a:t>
            </a:r>
            <a:r>
              <a:rPr b="0" lang="en-IN" sz="18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en-IN" sz="18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free</a:t>
            </a:r>
            <a:r>
              <a:rPr b="0" lang="en-IN" sz="18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bonus</a:t>
            </a:r>
            <a:r>
              <a:rPr b="0" lang="en-IN" sz="18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if</a:t>
            </a:r>
            <a:r>
              <a:rPr b="0" lang="en-IN" sz="18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</a:t>
            </a:r>
            <a:r>
              <a:rPr b="0" lang="en-IN" sz="18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buy</a:t>
            </a:r>
            <a:r>
              <a:rPr b="0" lang="en-IN" sz="18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our</a:t>
            </a:r>
            <a:r>
              <a:rPr b="0" lang="en-IN" sz="18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8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product.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9160" indent="-286560">
              <a:lnSpc>
                <a:spcPct val="100000"/>
              </a:lnSpc>
              <a:spcBef>
                <a:spcPts val="1080"/>
              </a:spcBef>
              <a:buClr>
                <a:srgbClr val="000000"/>
              </a:buClr>
              <a:buFont typeface="Arial MT"/>
              <a:buChar char="•"/>
              <a:tabLst>
                <a:tab algn="l" pos="299160"/>
              </a:tabLst>
            </a:pPr>
            <a:r>
              <a:rPr b="0" lang="en-IN" sz="18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You've</a:t>
            </a:r>
            <a:r>
              <a:rPr b="0" lang="en-IN" sz="18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won</a:t>
            </a:r>
            <a:r>
              <a:rPr b="0" lang="en-IN" sz="18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one</a:t>
            </a:r>
            <a:r>
              <a:rPr b="0" lang="en-IN" sz="18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of</a:t>
            </a:r>
            <a:r>
              <a:rPr b="0" lang="en-IN" sz="18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five</a:t>
            </a:r>
            <a:r>
              <a:rPr b="0" lang="en-IN" sz="18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valuable</a:t>
            </a:r>
            <a:r>
              <a:rPr b="0" lang="en-IN" sz="18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8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prizes.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9160" indent="-286560">
              <a:lnSpc>
                <a:spcPct val="100000"/>
              </a:lnSpc>
              <a:spcBef>
                <a:spcPts val="1080"/>
              </a:spcBef>
              <a:buClr>
                <a:srgbClr val="000000"/>
              </a:buClr>
              <a:buFont typeface="Arial MT"/>
              <a:buChar char="•"/>
              <a:tabLst>
                <a:tab algn="l" pos="299160"/>
              </a:tabLst>
            </a:pPr>
            <a:r>
              <a:rPr b="0" lang="en-IN" sz="18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You've</a:t>
            </a:r>
            <a:r>
              <a:rPr b="0" lang="en-IN" sz="18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won</a:t>
            </a:r>
            <a:r>
              <a:rPr b="0" lang="en-IN" sz="18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big</a:t>
            </a:r>
            <a:r>
              <a:rPr b="0" lang="en-IN" sz="18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money</a:t>
            </a:r>
            <a:r>
              <a:rPr b="0" lang="en-IN" sz="18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in</a:t>
            </a:r>
            <a:r>
              <a:rPr b="0" lang="en-IN" sz="18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en-IN" sz="18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foreign</a:t>
            </a:r>
            <a:r>
              <a:rPr b="0" lang="en-IN" sz="18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8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lottery.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9160" indent="-286920">
              <a:lnSpc>
                <a:spcPts val="3240"/>
              </a:lnSpc>
              <a:spcBef>
                <a:spcPts val="289"/>
              </a:spcBef>
              <a:buClr>
                <a:srgbClr val="000000"/>
              </a:buClr>
              <a:buFont typeface="Arial MT"/>
              <a:buChar char="•"/>
              <a:tabLst>
                <a:tab algn="l" pos="29916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This</a:t>
            </a:r>
            <a:r>
              <a:rPr b="0" lang="en-IN" sz="18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8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investment</a:t>
            </a:r>
            <a:r>
              <a:rPr b="0" lang="en-IN" sz="18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is</a:t>
            </a:r>
            <a:r>
              <a:rPr b="0" lang="en-IN" sz="18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low</a:t>
            </a:r>
            <a:r>
              <a:rPr b="0" lang="en-IN" sz="18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risk</a:t>
            </a:r>
            <a:r>
              <a:rPr b="0" lang="en-IN" sz="18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and</a:t>
            </a:r>
            <a:r>
              <a:rPr b="0" lang="en-IN" sz="18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8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provides</a:t>
            </a:r>
            <a:r>
              <a:rPr b="0" lang="en-IN" sz="18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en-IN" sz="18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higher</a:t>
            </a:r>
            <a:r>
              <a:rPr b="0" lang="en-IN" sz="18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return</a:t>
            </a:r>
            <a:r>
              <a:rPr b="0" lang="en-IN" sz="18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than</a:t>
            </a:r>
            <a:r>
              <a:rPr b="0" lang="en-IN" sz="18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</a:t>
            </a:r>
            <a:r>
              <a:rPr b="0" lang="en-IN" sz="18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can</a:t>
            </a:r>
            <a:r>
              <a:rPr b="0" lang="en-IN" sz="18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get</a:t>
            </a:r>
            <a:r>
              <a:rPr b="0" lang="en-IN" sz="18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8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anywhere else.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9160" indent="-286560">
              <a:lnSpc>
                <a:spcPct val="100000"/>
              </a:lnSpc>
              <a:spcBef>
                <a:spcPts val="794"/>
              </a:spcBef>
              <a:buClr>
                <a:srgbClr val="000000"/>
              </a:buClr>
              <a:buFont typeface="Arial MT"/>
              <a:buChar char="•"/>
              <a:tabLst>
                <a:tab algn="l" pos="299160"/>
              </a:tabLst>
            </a:pPr>
            <a:r>
              <a:rPr b="0" lang="en-IN" sz="18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</a:t>
            </a:r>
            <a:r>
              <a:rPr b="0" lang="en-IN" sz="18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have</a:t>
            </a:r>
            <a:r>
              <a:rPr b="0" lang="en-IN" sz="18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to</a:t>
            </a:r>
            <a:r>
              <a:rPr b="0" lang="en-IN" sz="18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make</a:t>
            </a:r>
            <a:r>
              <a:rPr b="0" lang="en-IN" sz="18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up</a:t>
            </a:r>
            <a:r>
              <a:rPr b="0" lang="en-IN" sz="18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your</a:t>
            </a:r>
            <a:r>
              <a:rPr b="0" lang="en-IN" sz="18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mind</a:t>
            </a:r>
            <a:r>
              <a:rPr b="0" lang="en-IN" sz="18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right</a:t>
            </a:r>
            <a:r>
              <a:rPr b="0" lang="en-IN" sz="18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8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away.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9160" indent="-286560">
              <a:lnSpc>
                <a:spcPct val="100000"/>
              </a:lnSpc>
              <a:spcBef>
                <a:spcPts val="1080"/>
              </a:spcBef>
              <a:buClr>
                <a:srgbClr val="000000"/>
              </a:buClr>
              <a:buFont typeface="Arial MT"/>
              <a:buChar char="•"/>
              <a:tabLst>
                <a:tab algn="l" pos="299160"/>
              </a:tabLst>
            </a:pPr>
            <a:r>
              <a:rPr b="0" lang="en-IN" sz="18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 </a:t>
            </a: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trust</a:t>
            </a:r>
            <a:r>
              <a:rPr b="0" lang="en-IN" sz="18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me,</a:t>
            </a:r>
            <a:r>
              <a:rPr b="0" lang="en-IN" sz="18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8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right?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9160" indent="-286560">
              <a:lnSpc>
                <a:spcPct val="100000"/>
              </a:lnSpc>
              <a:spcBef>
                <a:spcPts val="1080"/>
              </a:spcBef>
              <a:buClr>
                <a:srgbClr val="000000"/>
              </a:buClr>
              <a:buFont typeface="Arial MT"/>
              <a:buChar char="•"/>
              <a:tabLst>
                <a:tab algn="l" pos="299160"/>
              </a:tabLst>
            </a:pPr>
            <a:r>
              <a:rPr b="0" lang="en-IN" sz="18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</a:t>
            </a:r>
            <a:r>
              <a:rPr b="0" lang="en-IN" sz="18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don't</a:t>
            </a:r>
            <a:r>
              <a:rPr b="0" lang="en-IN" sz="18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need</a:t>
            </a:r>
            <a:r>
              <a:rPr b="0" lang="en-IN" sz="18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to</a:t>
            </a:r>
            <a:r>
              <a:rPr b="0" lang="en-IN" sz="18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check</a:t>
            </a:r>
            <a:r>
              <a:rPr b="0" lang="en-IN" sz="18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our</a:t>
            </a:r>
            <a:r>
              <a:rPr b="0" lang="en-IN" sz="18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8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company</a:t>
            </a:r>
            <a:r>
              <a:rPr b="0" lang="en-IN" sz="18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with</a:t>
            </a:r>
            <a:r>
              <a:rPr b="0" lang="en-IN" sz="18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8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anyone.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9160" indent="-286560">
              <a:lnSpc>
                <a:spcPct val="100000"/>
              </a:lnSpc>
              <a:spcBef>
                <a:spcPts val="1080"/>
              </a:spcBef>
              <a:buClr>
                <a:srgbClr val="000000"/>
              </a:buClr>
              <a:buFont typeface="Arial MT"/>
              <a:buChar char="•"/>
              <a:tabLst>
                <a:tab algn="l" pos="29916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We'll</a:t>
            </a:r>
            <a:r>
              <a:rPr b="0" lang="en-IN" sz="18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just</a:t>
            </a:r>
            <a:r>
              <a:rPr b="0" lang="en-IN" sz="1800" spc="-6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put</a:t>
            </a:r>
            <a:r>
              <a:rPr b="0" lang="en-IN" sz="18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b="0" lang="en-IN" sz="18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shipping</a:t>
            </a:r>
            <a:r>
              <a:rPr b="0" lang="en-IN" sz="18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and</a:t>
            </a:r>
            <a:r>
              <a:rPr b="0" lang="en-IN" sz="18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handling</a:t>
            </a:r>
            <a:r>
              <a:rPr b="0" lang="en-IN" sz="18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charges</a:t>
            </a:r>
            <a:r>
              <a:rPr b="0" lang="en-IN" sz="18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on</a:t>
            </a:r>
            <a:r>
              <a:rPr b="0" lang="en-IN" sz="18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your</a:t>
            </a:r>
            <a:r>
              <a:rPr b="0" lang="en-IN" sz="18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credit</a:t>
            </a:r>
            <a:r>
              <a:rPr b="0" lang="en-IN" sz="18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8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card.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0" y="144000"/>
            <a:ext cx="1619640" cy="1439640"/>
          </a:xfrm>
          <a:custGeom>
            <a:avLst/>
            <a:gdLst>
              <a:gd name="textAreaLeft" fmla="*/ 0 w 1619640"/>
              <a:gd name="textAreaRight" fmla="*/ 1620000 w 1619640"/>
              <a:gd name="textAreaTop" fmla="*/ 0 h 1439640"/>
              <a:gd name="textAreaBottom" fmla="*/ 1440000 h 1439640"/>
            </a:gdLst>
            <a:ahLst/>
            <a:cxnLst/>
            <a:rect l="textAreaLeft" t="textAreaTop" r="textAreaRight" b="textAreaBottom"/>
            <a:pathLst>
              <a:path w="4500" h="4000">
                <a:moveTo>
                  <a:pt x="0" y="4000"/>
                </a:moveTo>
                <a:cubicBezTo>
                  <a:pt x="0" y="2667"/>
                  <a:pt x="0" y="1333"/>
                  <a:pt x="0" y="0"/>
                </a:cubicBezTo>
                <a:cubicBezTo>
                  <a:pt x="1500" y="0"/>
                  <a:pt x="3000" y="0"/>
                  <a:pt x="4500" y="0"/>
                </a:cubicBezTo>
                <a:cubicBezTo>
                  <a:pt x="4500" y="1333"/>
                  <a:pt x="4500" y="2667"/>
                  <a:pt x="4500" y="4000"/>
                </a:cubicBezTo>
                <a:cubicBezTo>
                  <a:pt x="3000" y="4000"/>
                  <a:pt x="1500" y="4000"/>
                  <a:pt x="0" y="4000"/>
                </a:cubicBez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957600" y="1542240"/>
            <a:ext cx="7224840" cy="45252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spAutoFit/>
          </a:bodyPr>
          <a:p>
            <a:pPr marL="12600" indent="0">
              <a:lnSpc>
                <a:spcPct val="100000"/>
              </a:lnSpc>
              <a:spcBef>
                <a:spcPts val="96"/>
              </a:spcBef>
              <a:buNone/>
              <a:tabLst>
                <a:tab algn="l" pos="0"/>
              </a:tabLst>
            </a:pP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Tips</a:t>
            </a:r>
            <a:r>
              <a:rPr b="0" lang="en-IN" sz="2800" spc="-105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to</a:t>
            </a:r>
            <a:r>
              <a:rPr b="0" lang="en-IN" sz="2800" spc="-11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protect</a:t>
            </a:r>
            <a:r>
              <a:rPr b="0" lang="en-IN" sz="2800" spc="-9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yourself</a:t>
            </a:r>
            <a:r>
              <a:rPr b="0" lang="en-IN" sz="2800" spc="-9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from</a:t>
            </a:r>
            <a:r>
              <a:rPr b="0" lang="en-IN" sz="2800" spc="-96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Phishing</a:t>
            </a:r>
            <a:r>
              <a:rPr b="0" lang="en-IN" sz="2800" spc="-65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phone</a:t>
            </a:r>
            <a:r>
              <a:rPr b="0" lang="en-IN" sz="2800" spc="-85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800" spc="-1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calls.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object 3"/>
          <p:cNvSpPr/>
          <p:nvPr/>
        </p:nvSpPr>
        <p:spPr>
          <a:xfrm>
            <a:off x="345600" y="2139120"/>
            <a:ext cx="8442360" cy="421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299160" indent="-286920">
              <a:lnSpc>
                <a:spcPct val="114000"/>
              </a:lnSpc>
              <a:spcBef>
                <a:spcPts val="99"/>
              </a:spcBef>
              <a:buClr>
                <a:srgbClr val="000000"/>
              </a:buClr>
              <a:buFont typeface="Arial MT"/>
              <a:buChar char="•"/>
              <a:tabLst>
                <a:tab algn="l" pos="299160"/>
              </a:tabLst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Don’t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buy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from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unfamiliar</a:t>
            </a:r>
            <a:r>
              <a:rPr b="0" lang="en-IN" sz="16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company.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Legitimate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businesses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understand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that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</a:t>
            </a:r>
            <a:r>
              <a:rPr b="0" lang="en-IN" sz="16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want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more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information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about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their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company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and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are</a:t>
            </a:r>
            <a:r>
              <a:rPr b="0" lang="en-IN" sz="1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happy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to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comply.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9160" indent="-286560">
              <a:lnSpc>
                <a:spcPct val="100000"/>
              </a:lnSpc>
              <a:spcBef>
                <a:spcPts val="275"/>
              </a:spcBef>
              <a:buClr>
                <a:srgbClr val="000000"/>
              </a:buClr>
              <a:buFont typeface="Arial MT"/>
              <a:buChar char="•"/>
              <a:tabLst>
                <a:tab algn="l" pos="299160"/>
              </a:tabLst>
            </a:pP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Always</a:t>
            </a:r>
            <a:r>
              <a:rPr b="0" lang="en-IN" sz="16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check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out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unfamiliar</a:t>
            </a:r>
            <a:r>
              <a:rPr b="0" lang="en-IN" sz="1600" spc="-7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companies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with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your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local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consumer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protection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agency,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Better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9160">
              <a:lnSpc>
                <a:spcPct val="114000"/>
              </a:lnSpc>
              <a:spcBef>
                <a:spcPts val="14"/>
              </a:spcBef>
              <a:tabLst>
                <a:tab algn="l" pos="299160"/>
              </a:tabLst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Business</a:t>
            </a:r>
            <a:r>
              <a:rPr b="0" lang="en-IN" sz="16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Bureau,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state</a:t>
            </a:r>
            <a:r>
              <a:rPr b="0" lang="en-IN" sz="1600" spc="-6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attorney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general,</a:t>
            </a:r>
            <a:r>
              <a:rPr b="0" lang="en-IN" sz="16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National</a:t>
            </a:r>
            <a:r>
              <a:rPr b="0" lang="en-IN" sz="1600" spc="-7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Fraud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Information</a:t>
            </a:r>
            <a:r>
              <a:rPr b="0" lang="en-IN" sz="1600" spc="-6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Center,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or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other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watchdog groups.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9160" indent="-286560">
              <a:lnSpc>
                <a:spcPct val="100000"/>
              </a:lnSpc>
              <a:spcBef>
                <a:spcPts val="275"/>
              </a:spcBef>
              <a:buClr>
                <a:srgbClr val="000000"/>
              </a:buClr>
              <a:buFont typeface="Arial MT"/>
              <a:buChar char="•"/>
              <a:tabLst>
                <a:tab algn="l" pos="299160"/>
              </a:tabLst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Obtain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en-IN" sz="16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salesperson’s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name,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business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identity,</a:t>
            </a:r>
            <a:r>
              <a:rPr b="0" lang="en-IN" sz="1600" spc="-7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telephone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number,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street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address,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mailing</a:t>
            </a:r>
            <a:r>
              <a:rPr b="0" lang="en-IN" sz="1600" spc="-7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address,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9160">
              <a:lnSpc>
                <a:spcPct val="114000"/>
              </a:lnSpc>
              <a:spcBef>
                <a:spcPts val="11"/>
              </a:spcBef>
              <a:tabLst>
                <a:tab algn="l" pos="299160"/>
              </a:tabLst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and</a:t>
            </a:r>
            <a:r>
              <a:rPr b="0" lang="en-IN" sz="16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business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license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number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before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transact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business.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Some</a:t>
            </a:r>
            <a:r>
              <a:rPr b="0" lang="en-IN" sz="1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con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artists</a:t>
            </a:r>
            <a:r>
              <a:rPr b="0" lang="en-IN" sz="16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give</a:t>
            </a:r>
            <a:r>
              <a:rPr b="0" lang="en-IN" sz="16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out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false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names,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telephone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numbers,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addresses,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and</a:t>
            </a:r>
            <a:r>
              <a:rPr b="0" lang="en-IN" sz="1600" spc="-6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business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license</a:t>
            </a:r>
            <a:r>
              <a:rPr b="0" lang="en-IN" sz="16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numbers.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Verify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accuracy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of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these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items.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9160" indent="-286920">
              <a:lnSpc>
                <a:spcPts val="2211"/>
              </a:lnSpc>
              <a:spcBef>
                <a:spcPts val="105"/>
              </a:spcBef>
              <a:buClr>
                <a:srgbClr val="000000"/>
              </a:buClr>
              <a:buFont typeface="Arial MT"/>
              <a:buChar char="•"/>
              <a:tabLst>
                <a:tab algn="l" pos="299160"/>
              </a:tabLst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Don’t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pay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for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“free</a:t>
            </a:r>
            <a:r>
              <a:rPr b="0" lang="en-IN" sz="16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prize.”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If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caller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tells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payment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is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for</a:t>
            </a:r>
            <a:r>
              <a:rPr b="0" lang="en-IN" sz="1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taxes,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he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or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she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is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violating federal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law.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9160" indent="-286560">
              <a:lnSpc>
                <a:spcPct val="100000"/>
              </a:lnSpc>
              <a:spcBef>
                <a:spcPts val="156"/>
              </a:spcBef>
              <a:buClr>
                <a:srgbClr val="000000"/>
              </a:buClr>
              <a:buFont typeface="Arial MT"/>
              <a:buChar char="•"/>
              <a:tabLst>
                <a:tab algn="l" pos="299160"/>
              </a:tabLst>
            </a:pP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Never</a:t>
            </a:r>
            <a:r>
              <a:rPr b="1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send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money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or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give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out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personal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information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such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as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credit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card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numbers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and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expiration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9160">
              <a:lnSpc>
                <a:spcPct val="100000"/>
              </a:lnSpc>
              <a:spcBef>
                <a:spcPts val="275"/>
              </a:spcBef>
              <a:tabLst>
                <a:tab algn="l" pos="299160"/>
              </a:tabLst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dates,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bank</a:t>
            </a:r>
            <a:r>
              <a:rPr b="0" lang="en-IN" sz="16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account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numbers,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dates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of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birth,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or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social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security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numbers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to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unfamiliar</a:t>
            </a:r>
            <a:r>
              <a:rPr b="0" lang="en-IN" sz="1600" spc="-7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companies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9160">
              <a:lnSpc>
                <a:spcPct val="100000"/>
              </a:lnSpc>
              <a:spcBef>
                <a:spcPts val="289"/>
              </a:spcBef>
              <a:tabLst>
                <a:tab algn="l" pos="299160"/>
              </a:tabLst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or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unknown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persons.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9160" indent="-286920">
              <a:lnSpc>
                <a:spcPct val="114000"/>
              </a:lnSpc>
              <a:buClr>
                <a:srgbClr val="000000"/>
              </a:buClr>
              <a:buFont typeface="Arial MT"/>
              <a:buChar char="•"/>
              <a:tabLst>
                <a:tab algn="l" pos="299160"/>
              </a:tabLst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If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</a:t>
            </a:r>
            <a:r>
              <a:rPr b="0" lang="en-IN" sz="1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have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been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victimized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once,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be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wary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of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persons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who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call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offering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to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help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recover</a:t>
            </a:r>
            <a:r>
              <a:rPr b="0" lang="en-IN" sz="1600" spc="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your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losses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for</a:t>
            </a:r>
            <a:r>
              <a:rPr b="0" lang="en-IN" sz="1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fee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paid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in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advance.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0" y="144000"/>
            <a:ext cx="1619640" cy="1439640"/>
          </a:xfrm>
          <a:custGeom>
            <a:avLst/>
            <a:gdLst>
              <a:gd name="textAreaLeft" fmla="*/ 0 w 1619640"/>
              <a:gd name="textAreaRight" fmla="*/ 1620000 w 1619640"/>
              <a:gd name="textAreaTop" fmla="*/ 0 h 1439640"/>
              <a:gd name="textAreaBottom" fmla="*/ 1440000 h 1439640"/>
            </a:gdLst>
            <a:ahLst/>
            <a:cxnLst/>
            <a:rect l="textAreaLeft" t="textAreaTop" r="textAreaRight" b="textAreaBottom"/>
            <a:pathLst>
              <a:path w="4500" h="4000">
                <a:moveTo>
                  <a:pt x="0" y="4000"/>
                </a:moveTo>
                <a:cubicBezTo>
                  <a:pt x="0" y="2667"/>
                  <a:pt x="0" y="1333"/>
                  <a:pt x="0" y="0"/>
                </a:cubicBezTo>
                <a:cubicBezTo>
                  <a:pt x="1500" y="0"/>
                  <a:pt x="3000" y="0"/>
                  <a:pt x="4500" y="0"/>
                </a:cubicBezTo>
                <a:cubicBezTo>
                  <a:pt x="4500" y="1333"/>
                  <a:pt x="4500" y="2667"/>
                  <a:pt x="4500" y="4000"/>
                </a:cubicBezTo>
                <a:cubicBezTo>
                  <a:pt x="3000" y="4000"/>
                  <a:pt x="1500" y="4000"/>
                  <a:pt x="0" y="4000"/>
                </a:cubicBez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551880" y="1542240"/>
            <a:ext cx="8039520" cy="45252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spAutoFit/>
          </a:bodyPr>
          <a:p>
            <a:pPr marL="12600" indent="0">
              <a:lnSpc>
                <a:spcPct val="100000"/>
              </a:lnSpc>
              <a:spcBef>
                <a:spcPts val="96"/>
              </a:spcBef>
              <a:buNone/>
              <a:tabLst>
                <a:tab algn="l" pos="0"/>
              </a:tabLst>
            </a:pP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What</a:t>
            </a:r>
            <a:r>
              <a:rPr b="0" lang="en-IN" sz="2800" spc="-54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to</a:t>
            </a:r>
            <a:r>
              <a:rPr b="0" lang="en-IN" sz="2800" spc="-65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do</a:t>
            </a:r>
            <a:r>
              <a:rPr b="0" lang="en-IN" sz="2800" spc="-5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if</a:t>
            </a:r>
            <a:r>
              <a:rPr b="0" lang="en-IN" sz="2800" spc="-65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you</a:t>
            </a:r>
            <a:r>
              <a:rPr b="0" lang="en-IN" sz="2800" spc="-54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think</a:t>
            </a:r>
            <a:r>
              <a:rPr b="0" lang="en-IN" sz="2800" spc="-34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you</a:t>
            </a:r>
            <a:r>
              <a:rPr b="0" lang="en-IN" sz="2800" spc="-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are</a:t>
            </a:r>
            <a:r>
              <a:rPr b="0" lang="en-IN" sz="2800" spc="-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receiving</a:t>
            </a:r>
            <a:r>
              <a:rPr b="0" lang="en-IN" sz="2800" spc="-5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b="0" lang="en-IN" sz="2800" spc="-71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Phishing</a:t>
            </a:r>
            <a:r>
              <a:rPr b="0" lang="en-IN" sz="2800" spc="-2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Call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object 3"/>
          <p:cNvSpPr/>
          <p:nvPr/>
        </p:nvSpPr>
        <p:spPr>
          <a:xfrm>
            <a:off x="318600" y="2040120"/>
            <a:ext cx="8434080" cy="441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299160" indent="-286920">
              <a:lnSpc>
                <a:spcPct val="150000"/>
              </a:lnSpc>
              <a:spcBef>
                <a:spcPts val="99"/>
              </a:spcBef>
              <a:buClr>
                <a:srgbClr val="000000"/>
              </a:buClr>
              <a:buFont typeface="Arial MT"/>
              <a:buChar char="•"/>
              <a:tabLst>
                <a:tab algn="l" pos="299160"/>
              </a:tabLst>
            </a:pP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Always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look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up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phone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number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in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Google.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Often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times,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others</a:t>
            </a:r>
            <a:r>
              <a:rPr b="0" lang="en-IN" sz="1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have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received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these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calls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before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and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will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log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number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and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type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of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scam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to</a:t>
            </a:r>
            <a:r>
              <a:rPr b="0" lang="en-IN" sz="1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different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websites.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Some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of</a:t>
            </a:r>
            <a:r>
              <a:rPr b="0" lang="en-IN" sz="1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websites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are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800notes.com,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callercenter.com,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and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callercomplaints.com.</a:t>
            </a:r>
            <a:r>
              <a:rPr b="0" lang="en-IN" sz="1600" spc="-6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Users</a:t>
            </a:r>
            <a:r>
              <a:rPr b="0" lang="en-IN" sz="1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will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let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know</a:t>
            </a:r>
            <a:r>
              <a:rPr b="0" lang="en-IN" sz="1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whether</a:t>
            </a:r>
            <a:r>
              <a:rPr b="0" lang="en-IN" sz="16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or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not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this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is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scam,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and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what</a:t>
            </a:r>
            <a:r>
              <a:rPr b="0" lang="en-IN" sz="1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caller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will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ask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for.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9160" indent="-286560">
              <a:lnSpc>
                <a:spcPct val="100000"/>
              </a:lnSpc>
              <a:spcBef>
                <a:spcPts val="961"/>
              </a:spcBef>
              <a:buClr>
                <a:srgbClr val="000000"/>
              </a:buClr>
              <a:buFont typeface="Arial MT"/>
              <a:buChar char="•"/>
              <a:tabLst>
                <a:tab algn="l" pos="299160"/>
              </a:tabLst>
            </a:pP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Resist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pressure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to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make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decision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immediately.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9160" indent="-286560">
              <a:lnSpc>
                <a:spcPct val="100000"/>
              </a:lnSpc>
              <a:spcBef>
                <a:spcPts val="961"/>
              </a:spcBef>
              <a:buClr>
                <a:srgbClr val="000000"/>
              </a:buClr>
              <a:buFont typeface="Arial MT"/>
              <a:buChar char="•"/>
              <a:tabLst>
                <a:tab algn="l" pos="299160"/>
              </a:tabLst>
            </a:pP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Keep</a:t>
            </a:r>
            <a:r>
              <a:rPr b="1" lang="en-IN" sz="1600" spc="-6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your</a:t>
            </a:r>
            <a:r>
              <a:rPr b="1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credit</a:t>
            </a:r>
            <a:r>
              <a:rPr b="1" lang="en-IN" sz="16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card,</a:t>
            </a:r>
            <a:r>
              <a:rPr b="1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checking</a:t>
            </a:r>
            <a:r>
              <a:rPr b="1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account,</a:t>
            </a:r>
            <a:r>
              <a:rPr b="1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or</a:t>
            </a:r>
            <a:r>
              <a:rPr b="1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Social</a:t>
            </a:r>
            <a:r>
              <a:rPr b="1" lang="en-IN" sz="1600" spc="-6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Security</a:t>
            </a:r>
            <a:r>
              <a:rPr b="1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numbers</a:t>
            </a:r>
            <a:r>
              <a:rPr b="1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to</a:t>
            </a:r>
            <a:r>
              <a:rPr b="1" lang="en-IN" sz="1600" spc="-6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yourself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.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Don't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tell</a:t>
            </a:r>
            <a:r>
              <a:rPr b="0" lang="en-IN" sz="1600" spc="-7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them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9160">
              <a:lnSpc>
                <a:spcPct val="100000"/>
              </a:lnSpc>
              <a:spcBef>
                <a:spcPts val="961"/>
              </a:spcBef>
              <a:tabLst>
                <a:tab algn="l" pos="299160"/>
              </a:tabLst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to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callers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don't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know</a:t>
            </a:r>
            <a:r>
              <a:rPr b="0" lang="en-IN" sz="1600" spc="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—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even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if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they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ask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to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“confirm”</a:t>
            </a:r>
            <a:r>
              <a:rPr b="0" lang="en-IN" sz="1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this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information.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That's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trick.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9160" indent="-286560">
              <a:lnSpc>
                <a:spcPct val="100000"/>
              </a:lnSpc>
              <a:spcBef>
                <a:spcPts val="961"/>
              </a:spcBef>
              <a:buClr>
                <a:srgbClr val="000000"/>
              </a:buClr>
              <a:buFont typeface="Arial MT"/>
              <a:buChar char="•"/>
              <a:tabLst>
                <a:tab algn="l" pos="299160"/>
              </a:tabLst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Get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all</a:t>
            </a:r>
            <a:r>
              <a:rPr b="0" lang="en-IN" sz="16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information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in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writing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before</a:t>
            </a:r>
            <a:r>
              <a:rPr b="0" lang="en-IN" sz="16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agree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to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buy.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9160" indent="-286920">
              <a:lnSpc>
                <a:spcPts val="2880"/>
              </a:lnSpc>
              <a:spcBef>
                <a:spcPts val="258"/>
              </a:spcBef>
              <a:buClr>
                <a:srgbClr val="000000"/>
              </a:buClr>
              <a:buFont typeface="Arial MT"/>
              <a:buChar char="•"/>
              <a:tabLst>
                <a:tab algn="l" pos="299160"/>
              </a:tabLst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Beware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of</a:t>
            </a:r>
            <a:r>
              <a:rPr b="0" lang="en-IN" sz="1600" spc="-6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offers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to</a:t>
            </a:r>
            <a:r>
              <a:rPr b="0" lang="en-IN" sz="16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“help”</a:t>
            </a:r>
            <a:r>
              <a:rPr b="0" lang="en-IN" sz="16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recover</a:t>
            </a:r>
            <a:r>
              <a:rPr b="0" lang="en-IN" sz="1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money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</a:t>
            </a:r>
            <a:r>
              <a:rPr b="0" lang="en-IN" sz="1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have</a:t>
            </a:r>
            <a:r>
              <a:rPr b="0" lang="en-IN" sz="1600" spc="-6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already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lost.</a:t>
            </a:r>
            <a:r>
              <a:rPr b="0" lang="en-IN" sz="1600" spc="-79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Callers</a:t>
            </a:r>
            <a:r>
              <a:rPr b="0" lang="en-IN" sz="1600" spc="-6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that</a:t>
            </a:r>
            <a:r>
              <a:rPr b="0" lang="en-IN" sz="1600" spc="-6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say</a:t>
            </a:r>
            <a:r>
              <a:rPr b="0" lang="en-IN" sz="1600" spc="-7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they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are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law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enforcement</a:t>
            </a:r>
            <a:r>
              <a:rPr b="0" lang="en-IN" sz="16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officers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who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will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help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get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your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money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back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“for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en-IN" sz="1600" spc="-6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fee”</a:t>
            </a:r>
            <a:r>
              <a:rPr b="0" lang="en-IN" sz="1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are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scammers.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9160" indent="-286920">
              <a:lnSpc>
                <a:spcPts val="2880"/>
              </a:lnSpc>
              <a:buClr>
                <a:srgbClr val="000000"/>
              </a:buClr>
              <a:buFont typeface="Arial MT"/>
              <a:buChar char="•"/>
              <a:tabLst>
                <a:tab algn="l" pos="299160"/>
              </a:tabLst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Report</a:t>
            </a:r>
            <a:r>
              <a:rPr b="0" lang="en-IN" sz="1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any</a:t>
            </a:r>
            <a:r>
              <a:rPr b="0" lang="en-IN" sz="16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caller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who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is</a:t>
            </a:r>
            <a:r>
              <a:rPr b="0" lang="en-IN" sz="16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rude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or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abusive,</a:t>
            </a:r>
            <a:r>
              <a:rPr b="0" lang="en-IN" sz="1600" spc="-6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even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if</a:t>
            </a:r>
            <a:r>
              <a:rPr b="0" lang="en-IN" sz="16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already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sent</a:t>
            </a:r>
            <a:r>
              <a:rPr b="0" lang="en-IN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them</a:t>
            </a:r>
            <a:r>
              <a:rPr b="0" lang="en-IN" sz="1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money.</a:t>
            </a:r>
            <a:r>
              <a:rPr b="0" lang="en-IN" sz="1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They'll</a:t>
            </a:r>
            <a:r>
              <a:rPr b="0" lang="en-IN" sz="1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want</a:t>
            </a:r>
            <a:r>
              <a:rPr b="0" lang="en-IN" sz="16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more.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Call</a:t>
            </a:r>
            <a:r>
              <a:rPr b="0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1-</a:t>
            </a:r>
            <a:r>
              <a:rPr b="1" lang="en-IN" sz="1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877-</a:t>
            </a:r>
            <a:r>
              <a:rPr b="1" lang="en-IN" sz="1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FTC-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HELP</a:t>
            </a:r>
            <a:r>
              <a:rPr b="1" lang="en-IN" sz="1600" spc="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or</a:t>
            </a:r>
            <a:r>
              <a:rPr b="0" lang="en-IN" sz="1600" spc="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visit</a:t>
            </a:r>
            <a:r>
              <a:rPr b="0" lang="en-IN" sz="16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ftc.gov/complaint</a:t>
            </a:r>
            <a:r>
              <a:rPr b="0" lang="en-IN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0" y="144000"/>
            <a:ext cx="1619640" cy="1439640"/>
          </a:xfrm>
          <a:custGeom>
            <a:avLst/>
            <a:gdLst>
              <a:gd name="textAreaLeft" fmla="*/ 0 w 1619640"/>
              <a:gd name="textAreaRight" fmla="*/ 1620000 w 1619640"/>
              <a:gd name="textAreaTop" fmla="*/ 0 h 1439640"/>
              <a:gd name="textAreaBottom" fmla="*/ 1440000 h 1439640"/>
            </a:gdLst>
            <a:ahLst/>
            <a:cxnLst/>
            <a:rect l="textAreaLeft" t="textAreaTop" r="textAreaRight" b="textAreaBottom"/>
            <a:pathLst>
              <a:path w="4500" h="4000">
                <a:moveTo>
                  <a:pt x="0" y="4000"/>
                </a:moveTo>
                <a:cubicBezTo>
                  <a:pt x="0" y="2667"/>
                  <a:pt x="0" y="1333"/>
                  <a:pt x="0" y="0"/>
                </a:cubicBezTo>
                <a:cubicBezTo>
                  <a:pt x="1500" y="0"/>
                  <a:pt x="3000" y="0"/>
                  <a:pt x="4500" y="0"/>
                </a:cubicBezTo>
                <a:cubicBezTo>
                  <a:pt x="4500" y="1333"/>
                  <a:pt x="4500" y="2667"/>
                  <a:pt x="4500" y="4000"/>
                </a:cubicBezTo>
                <a:cubicBezTo>
                  <a:pt x="3000" y="4000"/>
                  <a:pt x="1500" y="4000"/>
                  <a:pt x="0" y="4000"/>
                </a:cubicBez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2880000" y="3060000"/>
            <a:ext cx="3576240" cy="1538280"/>
          </a:xfrm>
          <a:prstGeom prst="rect">
            <a:avLst/>
          </a:prstGeom>
          <a:noFill/>
          <a:ln w="0">
            <a:noFill/>
          </a:ln>
        </p:spPr>
        <p:txBody>
          <a:bodyPr lIns="0" rIns="0" tIns="13320" bIns="0" anchor="t">
            <a:spAutoFit/>
          </a:bodyPr>
          <a:p>
            <a:pPr marL="12600" indent="0">
              <a:lnSpc>
                <a:spcPct val="100000"/>
              </a:lnSpc>
              <a:spcBef>
                <a:spcPts val="105"/>
              </a:spcBef>
              <a:buNone/>
              <a:tabLst>
                <a:tab algn="l" pos="0"/>
              </a:tabLst>
            </a:pPr>
            <a:r>
              <a:rPr b="0" lang="en-IN" sz="5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Thank you</a:t>
            </a:r>
            <a:endParaRPr b="0" lang="en-IN" sz="5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0" y="144000"/>
            <a:ext cx="1619640" cy="1439640"/>
          </a:xfrm>
          <a:custGeom>
            <a:avLst/>
            <a:gdLst>
              <a:gd name="textAreaLeft" fmla="*/ 0 w 1619640"/>
              <a:gd name="textAreaRight" fmla="*/ 1620000 w 1619640"/>
              <a:gd name="textAreaTop" fmla="*/ 0 h 1439640"/>
              <a:gd name="textAreaBottom" fmla="*/ 1440000 h 1439640"/>
            </a:gdLst>
            <a:ahLst/>
            <a:cxnLst/>
            <a:rect l="textAreaLeft" t="textAreaTop" r="textAreaRight" b="textAreaBottom"/>
            <a:pathLst>
              <a:path w="4500" h="4000">
                <a:moveTo>
                  <a:pt x="0" y="4000"/>
                </a:moveTo>
                <a:cubicBezTo>
                  <a:pt x="0" y="2667"/>
                  <a:pt x="0" y="1333"/>
                  <a:pt x="0" y="0"/>
                </a:cubicBezTo>
                <a:cubicBezTo>
                  <a:pt x="1500" y="0"/>
                  <a:pt x="3000" y="0"/>
                  <a:pt x="4500" y="0"/>
                </a:cubicBezTo>
                <a:cubicBezTo>
                  <a:pt x="4500" y="1333"/>
                  <a:pt x="4500" y="2667"/>
                  <a:pt x="4500" y="4000"/>
                </a:cubicBezTo>
                <a:cubicBezTo>
                  <a:pt x="3000" y="4000"/>
                  <a:pt x="1500" y="4000"/>
                  <a:pt x="0" y="4000"/>
                </a:cubicBez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LibreOffice/25.8.3.2$Windows_X86_64 LibreOffice_project/8ca8d55c161d602844f5428fa4b58097424e324e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2025-12-18T21:08:21Z</dcterms:created>
  <dc:creator>Chad  Vantine</dc:creator>
  <dc:description/>
  <dc:language>en-IN</dc:language>
  <cp:lastModifiedBy/>
  <dcterms:modified xsi:type="dcterms:W3CDTF">2025-12-19T03:48:36Z</dcterms:modified>
  <cp:revision>3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2016-05-20T00:00:00Z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2025-12-18T00:00:00Z</vt:filetime>
  </property>
  <property fmtid="{D5CDD505-2E9C-101B-9397-08002B2CF9AE}" pid="5" name="PresentationFormat">
    <vt:lpwstr>On-screen Show (4:3)</vt:lpwstr>
  </property>
  <property fmtid="{D5CDD505-2E9C-101B-9397-08002B2CF9AE}" pid="6" name="Producer">
    <vt:lpwstr>Microsoft® PowerPoint® 2013</vt:lpwstr>
  </property>
</Properties>
</file>